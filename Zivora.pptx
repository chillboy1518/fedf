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60320" y="-2011680"/>
            <a:ext cx="6858000" cy="6858000"/>
          </a:xfrm>
          <a:prstGeom prst="ellipse">
            <a:avLst/>
          </a:prstGeom>
          <a:solidFill>
            <a:srgbClr val="E1F0E4"/>
          </a:solidFill>
          <a:ln/>
        </p:spPr>
      </p:sp>
      <p:sp>
        <p:nvSpPr>
          <p:cNvPr id="3" name="Shape 1"/>
          <p:cNvSpPr/>
          <p:nvPr/>
        </p:nvSpPr>
        <p:spPr>
          <a:xfrm>
            <a:off x="7955280" y="2377440"/>
            <a:ext cx="5943600" cy="5943600"/>
          </a:xfrm>
          <a:prstGeom prst="ellipse">
            <a:avLst/>
          </a:prstGeom>
          <a:solidFill>
            <a:srgbClr val="DCEFD9"/>
          </a:solidFill>
          <a:ln/>
        </p:spPr>
      </p:sp>
      <p:sp>
        <p:nvSpPr>
          <p:cNvPr id="4" name="Text 2"/>
          <p:cNvSpPr/>
          <p:nvPr/>
        </p:nvSpPr>
        <p:spPr>
          <a:xfrm>
            <a:off x="640080" y="1371600"/>
            <a:ext cx="8229600" cy="1280160"/>
          </a:xfrm>
          <a:prstGeom prst="rect">
            <a:avLst/>
          </a:prstGeom>
          <a:noFill/>
          <a:ln/>
        </p:spPr>
        <p:txBody>
          <a:bodyPr wrap="square" rtlCol="0" anchor="ctr"/>
          <a:lstStyle/>
          <a:p>
            <a:pPr indent="0" marL="0">
              <a:buNone/>
            </a:pPr>
            <a:r>
              <a:rPr lang="en-US" sz="6400" b="1" dirty="0">
                <a:solidFill>
                  <a:srgbClr val="14432A"/>
                </a:solidFill>
                <a:latin typeface="Cambria" pitchFamily="34" charset="0"/>
                <a:ea typeface="Cambria" pitchFamily="34" charset="-122"/>
                <a:cs typeface="Cambria" pitchFamily="34" charset="-120"/>
              </a:rPr>
              <a:t>Zivora</a:t>
            </a:r>
            <a:endParaRPr lang="en-US" sz="6400" dirty="0"/>
          </a:p>
        </p:txBody>
      </p:sp>
      <p:sp>
        <p:nvSpPr>
          <p:cNvPr id="5" name="Text 3"/>
          <p:cNvSpPr/>
          <p:nvPr/>
        </p:nvSpPr>
        <p:spPr>
          <a:xfrm>
            <a:off x="640080" y="2514600"/>
            <a:ext cx="8229600" cy="640080"/>
          </a:xfrm>
          <a:prstGeom prst="rect">
            <a:avLst/>
          </a:prstGeom>
          <a:noFill/>
          <a:ln/>
        </p:spPr>
        <p:txBody>
          <a:bodyPr wrap="square" rtlCol="0" anchor="ctr"/>
          <a:lstStyle/>
          <a:p>
            <a:pPr indent="0" marL="0">
              <a:buNone/>
            </a:pPr>
            <a:r>
              <a:rPr lang="en-US" sz="2400" b="1" dirty="0">
                <a:solidFill>
                  <a:srgbClr val="2E8B57"/>
                </a:solidFill>
                <a:latin typeface="Calibri" pitchFamily="34" charset="0"/>
                <a:ea typeface="Calibri" pitchFamily="34" charset="-122"/>
                <a:cs typeface="Calibri" pitchFamily="34" charset="-120"/>
              </a:rPr>
              <a:t>Online Shopping Platform</a:t>
            </a:r>
            <a:endParaRPr lang="en-US" sz="2400" dirty="0"/>
          </a:p>
        </p:txBody>
      </p:sp>
      <p:sp>
        <p:nvSpPr>
          <p:cNvPr id="6" name="Shape 4"/>
          <p:cNvSpPr/>
          <p:nvPr/>
        </p:nvSpPr>
        <p:spPr>
          <a:xfrm>
            <a:off x="685800" y="3246120"/>
            <a:ext cx="109728" cy="109728"/>
          </a:xfrm>
          <a:prstGeom prst="ellipse">
            <a:avLst/>
          </a:prstGeom>
          <a:solidFill>
            <a:srgbClr val="14432A"/>
          </a:solidFill>
          <a:ln w="12700">
            <a:solidFill>
              <a:srgbClr val="14432A"/>
            </a:solidFill>
            <a:prstDash val="solid"/>
          </a:ln>
        </p:spPr>
      </p:sp>
      <p:sp>
        <p:nvSpPr>
          <p:cNvPr id="7" name="Shape 5"/>
          <p:cNvSpPr/>
          <p:nvPr/>
        </p:nvSpPr>
        <p:spPr>
          <a:xfrm>
            <a:off x="886968" y="3246120"/>
            <a:ext cx="109728" cy="109728"/>
          </a:xfrm>
          <a:prstGeom prst="ellipse">
            <a:avLst/>
          </a:prstGeom>
          <a:solidFill>
            <a:srgbClr val="FFFFFF"/>
          </a:solidFill>
          <a:ln w="12700">
            <a:solidFill>
              <a:srgbClr val="14432A"/>
            </a:solidFill>
            <a:prstDash val="solid"/>
          </a:ln>
        </p:spPr>
      </p:sp>
      <p:sp>
        <p:nvSpPr>
          <p:cNvPr id="8" name="Shape 6"/>
          <p:cNvSpPr/>
          <p:nvPr/>
        </p:nvSpPr>
        <p:spPr>
          <a:xfrm>
            <a:off x="1088136" y="3246120"/>
            <a:ext cx="109728" cy="109728"/>
          </a:xfrm>
          <a:prstGeom prst="ellipse">
            <a:avLst/>
          </a:prstGeom>
          <a:solidFill>
            <a:srgbClr val="FFFFFF"/>
          </a:solidFill>
          <a:ln w="12700">
            <a:solidFill>
              <a:srgbClr val="14432A"/>
            </a:solidFill>
            <a:prstDash val="solid"/>
          </a:ln>
        </p:spPr>
      </p:sp>
      <p:sp>
        <p:nvSpPr>
          <p:cNvPr id="9" name="Shape 7"/>
          <p:cNvSpPr/>
          <p:nvPr/>
        </p:nvSpPr>
        <p:spPr>
          <a:xfrm>
            <a:off x="1289304" y="3246120"/>
            <a:ext cx="109728" cy="109728"/>
          </a:xfrm>
          <a:prstGeom prst="ellipse">
            <a:avLst/>
          </a:prstGeom>
          <a:solidFill>
            <a:srgbClr val="FFFFFF"/>
          </a:solidFill>
          <a:ln w="12700">
            <a:solidFill>
              <a:srgbClr val="14432A"/>
            </a:solidFill>
            <a:prstDash val="solid"/>
          </a:ln>
        </p:spPr>
      </p:sp>
      <p:sp>
        <p:nvSpPr>
          <p:cNvPr id="10" name="Text 8"/>
          <p:cNvSpPr/>
          <p:nvPr/>
        </p:nvSpPr>
        <p:spPr>
          <a:xfrm>
            <a:off x="640080" y="5394960"/>
            <a:ext cx="6400800" cy="822960"/>
          </a:xfrm>
          <a:prstGeom prst="rect">
            <a:avLst/>
          </a:prstGeom>
          <a:noFill/>
          <a:ln/>
        </p:spPr>
        <p:txBody>
          <a:bodyPr wrap="square" rtlCol="0" anchor="ctr"/>
          <a:lstStyle/>
          <a:p>
            <a:pPr indent="0" marL="0">
              <a:buNone/>
            </a:pPr>
            <a:r>
              <a:rPr lang="en-US" sz="1800" b="1" i="1" dirty="0">
                <a:solidFill>
                  <a:srgbClr val="2E8B57"/>
                </a:solidFill>
                <a:latin typeface="Calibri" pitchFamily="34" charset="0"/>
                <a:ea typeface="Calibri" pitchFamily="34" charset="-122"/>
                <a:cs typeface="Calibri" pitchFamily="34" charset="-120"/>
              </a:rPr>
              <a:t>2520040031 – K. Kushal Kumar</a:t>
            </a:r>
            <a:endParaRPr lang="en-US" sz="1800" dirty="0"/>
          </a:p>
          <a:p>
            <a:pPr indent="0" marL="0">
              <a:buNone/>
            </a:pPr>
            <a:r>
              <a:rPr lang="en-US" sz="1800" b="1" i="1" dirty="0">
                <a:solidFill>
                  <a:srgbClr val="2E8B57"/>
                </a:solidFill>
                <a:latin typeface="Calibri" pitchFamily="34" charset="0"/>
                <a:ea typeface="Calibri" pitchFamily="34" charset="-122"/>
                <a:cs typeface="Calibri" pitchFamily="34" charset="-120"/>
              </a:rPr>
              <a:t>2520040018 – T. Sai Pavan Reddy</a:t>
            </a:r>
            <a:endParaRPr lang="en-US" sz="1800" dirty="0"/>
          </a:p>
        </p:txBody>
      </p:sp>
      <p:sp>
        <p:nvSpPr>
          <p:cNvPr id="11" name="Shape 9"/>
          <p:cNvSpPr/>
          <p:nvPr/>
        </p:nvSpPr>
        <p:spPr>
          <a:xfrm>
            <a:off x="8869680" y="548640"/>
            <a:ext cx="1371600" cy="1371600"/>
          </a:xfrm>
          <a:prstGeom prst="ellipse">
            <a:avLst/>
          </a:prstGeom>
          <a:solidFill>
            <a:srgbClr val="8FBF6E"/>
          </a:solidFill>
          <a:ln/>
        </p:spPr>
      </p:sp>
      <p:pic>
        <p:nvPicPr>
          <p:cNvPr id="12" name="Image 0" descr="preencoded.png">    </p:cNvPr>
          <p:cNvPicPr>
            <a:picLocks noChangeAspect="1"/>
          </p:cNvPicPr>
          <p:nvPr/>
        </p:nvPicPr>
        <p:blipFill>
          <a:blip r:embed="rId1"/>
          <a:srcRect l="0" r="0" t="0" b="0"/>
          <a:stretch/>
        </p:blipFill>
        <p:spPr>
          <a:xfrm>
            <a:off x="9006840" y="685800"/>
            <a:ext cx="1097280" cy="1097280"/>
          </a:xfrm>
          <a:prstGeom prst="rect">
            <a:avLst/>
          </a:prstGeom>
        </p:spPr>
      </p:pic>
      <p:sp>
        <p:nvSpPr>
          <p:cNvPr id="13" name="Shape 10"/>
          <p:cNvSpPr/>
          <p:nvPr/>
        </p:nvSpPr>
        <p:spPr>
          <a:xfrm>
            <a:off x="10561320" y="1417320"/>
            <a:ext cx="1554480" cy="1554480"/>
          </a:xfrm>
          <a:prstGeom prst="ellipse">
            <a:avLst/>
          </a:prstGeom>
          <a:solidFill>
            <a:srgbClr val="2E8B57"/>
          </a:solidFill>
          <a:ln/>
        </p:spPr>
      </p:sp>
      <p:pic>
        <p:nvPicPr>
          <p:cNvPr id="14" name="Image 1" descr="preencoded.png">    </p:cNvPr>
          <p:cNvPicPr>
            <a:picLocks noChangeAspect="1"/>
          </p:cNvPicPr>
          <p:nvPr/>
        </p:nvPicPr>
        <p:blipFill>
          <a:blip r:embed="rId2"/>
          <a:srcRect l="0" r="0" t="0" b="0"/>
          <a:stretch/>
        </p:blipFill>
        <p:spPr>
          <a:xfrm>
            <a:off x="10716768" y="1572768"/>
            <a:ext cx="1243584" cy="1243584"/>
          </a:xfrm>
          <a:prstGeom prst="rect">
            <a:avLst/>
          </a:prstGeom>
        </p:spPr>
      </p:pic>
      <p:sp>
        <p:nvSpPr>
          <p:cNvPr id="15" name="Shape 11"/>
          <p:cNvSpPr/>
          <p:nvPr/>
        </p:nvSpPr>
        <p:spPr>
          <a:xfrm>
            <a:off x="7818120" y="3017520"/>
            <a:ext cx="1234440" cy="1234440"/>
          </a:xfrm>
          <a:prstGeom prst="ellipse">
            <a:avLst/>
          </a:prstGeom>
          <a:solidFill>
            <a:srgbClr val="3F7A52"/>
          </a:solidFill>
          <a:ln/>
        </p:spPr>
      </p:sp>
      <p:pic>
        <p:nvPicPr>
          <p:cNvPr id="16" name="Image 2" descr="preencoded.png">    </p:cNvPr>
          <p:cNvPicPr>
            <a:picLocks noChangeAspect="1"/>
          </p:cNvPicPr>
          <p:nvPr/>
        </p:nvPicPr>
        <p:blipFill>
          <a:blip r:embed="rId3"/>
          <a:srcRect l="0" r="0" t="0" b="0"/>
          <a:stretch/>
        </p:blipFill>
        <p:spPr>
          <a:xfrm>
            <a:off x="7941564" y="3140964"/>
            <a:ext cx="987552" cy="987552"/>
          </a:xfrm>
          <a:prstGeom prst="rect">
            <a:avLst/>
          </a:prstGeom>
        </p:spPr>
      </p:pic>
      <p:sp>
        <p:nvSpPr>
          <p:cNvPr id="17" name="Shape 12"/>
          <p:cNvSpPr/>
          <p:nvPr/>
        </p:nvSpPr>
        <p:spPr>
          <a:xfrm>
            <a:off x="9692640" y="3749040"/>
            <a:ext cx="1463040" cy="1463040"/>
          </a:xfrm>
          <a:prstGeom prst="ellipse">
            <a:avLst/>
          </a:prstGeom>
          <a:solidFill>
            <a:srgbClr val="7AAE6A"/>
          </a:solidFill>
          <a:ln/>
        </p:spPr>
      </p:sp>
      <p:pic>
        <p:nvPicPr>
          <p:cNvPr id="18" name="Image 3" descr="preencoded.png">    </p:cNvPr>
          <p:cNvPicPr>
            <a:picLocks noChangeAspect="1"/>
          </p:cNvPicPr>
          <p:nvPr/>
        </p:nvPicPr>
        <p:blipFill>
          <a:blip r:embed="rId4"/>
          <a:srcRect l="0" r="0" t="0" b="0"/>
          <a:stretch/>
        </p:blipFill>
        <p:spPr>
          <a:xfrm>
            <a:off x="9838944" y="3895344"/>
            <a:ext cx="1170432" cy="1170432"/>
          </a:xfrm>
          <a:prstGeom prst="rect">
            <a:avLst/>
          </a:prstGeom>
        </p:spPr>
      </p:pic>
      <p:sp>
        <p:nvSpPr>
          <p:cNvPr id="19" name="Shape 13"/>
          <p:cNvSpPr/>
          <p:nvPr/>
        </p:nvSpPr>
        <p:spPr>
          <a:xfrm>
            <a:off x="8778240" y="5212080"/>
            <a:ext cx="1280160" cy="1280160"/>
          </a:xfrm>
          <a:prstGeom prst="ellipse">
            <a:avLst/>
          </a:prstGeom>
          <a:solidFill>
            <a:srgbClr val="14432A"/>
          </a:solidFill>
          <a:ln/>
        </p:spPr>
      </p:sp>
      <p:pic>
        <p:nvPicPr>
          <p:cNvPr id="20" name="Image 4" descr="preencoded.png">    </p:cNvPr>
          <p:cNvPicPr>
            <a:picLocks noChangeAspect="1"/>
          </p:cNvPicPr>
          <p:nvPr/>
        </p:nvPicPr>
        <p:blipFill>
          <a:blip r:embed="rId5"/>
          <a:srcRect l="0" r="0" t="0" b="0"/>
          <a:stretch/>
        </p:blipFill>
        <p:spPr>
          <a:xfrm>
            <a:off x="8906256" y="5340096"/>
            <a:ext cx="1024128" cy="10241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50292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50292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502920"/>
            <a:ext cx="109728" cy="109728"/>
          </a:xfrm>
          <a:prstGeom prst="ellipse">
            <a:avLst/>
          </a:prstGeom>
          <a:solidFill>
            <a:srgbClr val="FFFFFF"/>
          </a:solidFill>
          <a:ln w="12700">
            <a:solidFill>
              <a:srgbClr val="14432A"/>
            </a:solidFill>
            <a:prstDash val="solid"/>
          </a:ln>
        </p:spPr>
      </p:sp>
      <p:sp>
        <p:nvSpPr>
          <p:cNvPr id="6" name="Text 4"/>
          <p:cNvSpPr/>
          <p:nvPr/>
        </p:nvSpPr>
        <p:spPr>
          <a:xfrm>
            <a:off x="640080" y="822960"/>
            <a:ext cx="6035040" cy="2011680"/>
          </a:xfrm>
          <a:prstGeom prst="rect">
            <a:avLst/>
          </a:prstGeom>
          <a:noFill/>
          <a:ln/>
        </p:spPr>
        <p:txBody>
          <a:bodyPr wrap="square" rtlCol="0" anchor="ctr"/>
          <a:lstStyle/>
          <a:p>
            <a:pPr indent="0" marL="0">
              <a:buNone/>
            </a:pPr>
            <a:r>
              <a:rPr lang="en-US" sz="4400" b="1" dirty="0">
                <a:solidFill>
                  <a:srgbClr val="14432A"/>
                </a:solidFill>
                <a:latin typeface="Cambria" pitchFamily="34" charset="0"/>
                <a:ea typeface="Cambria" pitchFamily="34" charset="-122"/>
                <a:cs typeface="Cambria" pitchFamily="34" charset="-120"/>
              </a:rPr>
              <a:t>Style in</a:t>
            </a:r>
            <a:endParaRPr lang="en-US" sz="4400" dirty="0"/>
          </a:p>
          <a:p>
            <a:pPr indent="0" marL="0">
              <a:buNone/>
            </a:pPr>
            <a:r>
              <a:rPr lang="en-US" sz="4400" b="1" dirty="0">
                <a:solidFill>
                  <a:srgbClr val="14432A"/>
                </a:solidFill>
                <a:latin typeface="Cambria" pitchFamily="34" charset="0"/>
                <a:ea typeface="Cambria" pitchFamily="34" charset="-122"/>
                <a:cs typeface="Cambria" pitchFamily="34" charset="-120"/>
              </a:rPr>
              <a:t>Every Click</a:t>
            </a:r>
            <a:endParaRPr lang="en-US" sz="4400" dirty="0"/>
          </a:p>
        </p:txBody>
      </p:sp>
      <p:sp>
        <p:nvSpPr>
          <p:cNvPr id="7" name="Shape 5"/>
          <p:cNvSpPr/>
          <p:nvPr/>
        </p:nvSpPr>
        <p:spPr>
          <a:xfrm>
            <a:off x="640080" y="2880360"/>
            <a:ext cx="7315200" cy="3383280"/>
          </a:xfrm>
          <a:prstGeom prst="roundRect">
            <a:avLst>
              <a:gd name="adj" fmla="val 3243"/>
            </a:avLst>
          </a:prstGeom>
          <a:solidFill>
            <a:srgbClr val="2E8B57"/>
          </a:solidFill>
          <a:ln/>
        </p:spPr>
      </p:sp>
      <p:sp>
        <p:nvSpPr>
          <p:cNvPr id="8" name="Text 6"/>
          <p:cNvSpPr/>
          <p:nvPr/>
        </p:nvSpPr>
        <p:spPr>
          <a:xfrm>
            <a:off x="914400" y="3108960"/>
            <a:ext cx="6766560" cy="292608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Zivora is a web-based Online Shopping Platform developed using React and Vite, with a lightweight Express backend. It provides a centralized store for browsing and purchasing products across categories such as phones, laptops, watches, bags and shoes. The system allows customers to register, log in, build a cart, and place orders through a clean, easy-to-use interface. React components and React Router DOM are used to ensure smooth navigation and reusability across pages. State is handled using React Hooks, while an Express + JSON backend manages customer accounts, carts and orders. The application also includes a dedicated Admin module to monitor and manage registered customers. The project follows modern front-end engineering principles such as component-based architecture and SPA routing, offering a scalable foundation for future enhancements like payments and live order tracking.</a:t>
            </a:r>
            <a:endParaRPr lang="en-US" sz="1350" dirty="0"/>
          </a:p>
        </p:txBody>
      </p:sp>
      <p:sp>
        <p:nvSpPr>
          <p:cNvPr id="9" name="Shape 7"/>
          <p:cNvSpPr/>
          <p:nvPr/>
        </p:nvSpPr>
        <p:spPr>
          <a:xfrm>
            <a:off x="8595360" y="822960"/>
            <a:ext cx="2926080" cy="2926080"/>
          </a:xfrm>
          <a:prstGeom prst="ellipse">
            <a:avLst/>
          </a:prstGeom>
          <a:solidFill>
            <a:srgbClr val="DCEFD9"/>
          </a:solidFill>
          <a:ln/>
        </p:spPr>
      </p:sp>
      <p:pic>
        <p:nvPicPr>
          <p:cNvPr id="10" name="Image 0" descr="preencoded.png">    </p:cNvPr>
          <p:cNvPicPr>
            <a:picLocks noChangeAspect="1"/>
          </p:cNvPicPr>
          <p:nvPr/>
        </p:nvPicPr>
        <p:blipFill>
          <a:blip r:embed="rId1"/>
          <a:stretch>
            <a:fillRect/>
          </a:stretch>
        </p:blipFill>
        <p:spPr>
          <a:xfrm>
            <a:off x="8975750" y="1203350"/>
            <a:ext cx="2165299" cy="2165299"/>
          </a:xfrm>
          <a:prstGeom prst="rect">
            <a:avLst/>
          </a:prstGeom>
        </p:spPr>
      </p:pic>
      <p:sp>
        <p:nvSpPr>
          <p:cNvPr id="11" name="Shape 8"/>
          <p:cNvSpPr/>
          <p:nvPr/>
        </p:nvSpPr>
        <p:spPr>
          <a:xfrm>
            <a:off x="11414455" y="6080760"/>
            <a:ext cx="457200" cy="457200"/>
          </a:xfrm>
          <a:prstGeom prst="ellipse">
            <a:avLst/>
          </a:prstGeom>
          <a:solidFill>
            <a:srgbClr val="14432A"/>
          </a:solidFill>
          <a:ln/>
        </p:spPr>
      </p:sp>
      <p:pic>
        <p:nvPicPr>
          <p:cNvPr id="12"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731520"/>
          </a:xfrm>
          <a:prstGeom prst="rect">
            <a:avLst/>
          </a:prstGeom>
          <a:noFill/>
          <a:ln/>
        </p:spPr>
        <p:txBody>
          <a:bodyPr wrap="square" rtlCol="0" anchor="ctr"/>
          <a:lstStyle/>
          <a:p>
            <a:pPr indent="0" marL="0">
              <a:buNone/>
            </a:pPr>
            <a:r>
              <a:rPr lang="en-US" sz="3600" b="1" dirty="0">
                <a:solidFill>
                  <a:srgbClr val="2E8B57"/>
                </a:solidFill>
                <a:latin typeface="Cambria" pitchFamily="34" charset="0"/>
                <a:ea typeface="Cambria" pitchFamily="34" charset="-122"/>
                <a:cs typeface="Cambria" pitchFamily="34" charset="-120"/>
              </a:rPr>
              <a:t>Problem Statement</a:t>
            </a:r>
            <a:endParaRPr lang="en-US" sz="3600" dirty="0"/>
          </a:p>
        </p:txBody>
      </p:sp>
      <p:sp>
        <p:nvSpPr>
          <p:cNvPr id="3" name="Shape 1"/>
          <p:cNvSpPr/>
          <p:nvPr/>
        </p:nvSpPr>
        <p:spPr>
          <a:xfrm>
            <a:off x="640080" y="1371600"/>
            <a:ext cx="10881360" cy="3291840"/>
          </a:xfrm>
          <a:prstGeom prst="roundRect">
            <a:avLst>
              <a:gd name="adj" fmla="val 3333"/>
            </a:avLst>
          </a:prstGeom>
          <a:solidFill>
            <a:srgbClr val="14432A"/>
          </a:solidFill>
          <a:ln/>
        </p:spPr>
      </p:sp>
      <p:sp>
        <p:nvSpPr>
          <p:cNvPr id="4" name="Text 2"/>
          <p:cNvSpPr/>
          <p:nvPr/>
        </p:nvSpPr>
        <p:spPr>
          <a:xfrm>
            <a:off x="914400" y="1600200"/>
            <a:ext cx="10332720" cy="283464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Shopping for everyday products such as phones, laptops, watches, bags, and shoes is often scattered across multiple stores, websites, and physical shops. This leads to inconsistent pricing, difficulty comparing products, and a lack of a single place to track purchases and orders. Customers struggle to maintain order history, manage their cart across sessions, and get a consistent buying experience. Store owners also find it difficult to keep track of registered customers and their activity without a centralized system. There is a need for a unified, user-friendly online shopping platform that consolidates multiple product categories, secures user accounts, simplifies cart and checkout, and gives administrators an easy way to manage customers.</a:t>
            </a:r>
            <a:endParaRPr lang="en-US" sz="1400" dirty="0"/>
          </a:p>
        </p:txBody>
      </p:sp>
      <p:sp>
        <p:nvSpPr>
          <p:cNvPr id="5" name="Shape 3"/>
          <p:cNvSpPr/>
          <p:nvPr/>
        </p:nvSpPr>
        <p:spPr>
          <a:xfrm>
            <a:off x="822960" y="5029200"/>
            <a:ext cx="1005840" cy="1005840"/>
          </a:xfrm>
          <a:prstGeom prst="ellipse">
            <a:avLst/>
          </a:prstGeom>
          <a:solidFill>
            <a:srgbClr val="DCEFD9"/>
          </a:solidFill>
          <a:ln/>
        </p:spPr>
      </p:sp>
      <p:pic>
        <p:nvPicPr>
          <p:cNvPr id="6" name="Image 0" descr="preencoded.png">    </p:cNvPr>
          <p:cNvPicPr>
            <a:picLocks noChangeAspect="1"/>
          </p:cNvPicPr>
          <p:nvPr/>
        </p:nvPicPr>
        <p:blipFill>
          <a:blip r:embed="rId1"/>
          <a:srcRect l="0" r="0" t="0" b="0"/>
          <a:stretch/>
        </p:blipFill>
        <p:spPr>
          <a:xfrm>
            <a:off x="923544" y="5129784"/>
            <a:ext cx="804672" cy="804672"/>
          </a:xfrm>
          <a:prstGeom prst="rect">
            <a:avLst/>
          </a:prstGeom>
        </p:spPr>
      </p:pic>
      <p:sp>
        <p:nvSpPr>
          <p:cNvPr id="7" name="Shape 4"/>
          <p:cNvSpPr/>
          <p:nvPr/>
        </p:nvSpPr>
        <p:spPr>
          <a:xfrm>
            <a:off x="2286000" y="5029200"/>
            <a:ext cx="1005840" cy="1005840"/>
          </a:xfrm>
          <a:prstGeom prst="ellipse">
            <a:avLst/>
          </a:prstGeom>
          <a:solidFill>
            <a:srgbClr val="DCEFD9"/>
          </a:solidFill>
          <a:ln/>
        </p:spPr>
      </p:sp>
      <p:pic>
        <p:nvPicPr>
          <p:cNvPr id="8" name="Image 1" descr="preencoded.png">    </p:cNvPr>
          <p:cNvPicPr>
            <a:picLocks noChangeAspect="1"/>
          </p:cNvPicPr>
          <p:nvPr/>
        </p:nvPicPr>
        <p:blipFill>
          <a:blip r:embed="rId2"/>
          <a:srcRect l="0" r="0" t="0" b="0"/>
          <a:stretch/>
        </p:blipFill>
        <p:spPr>
          <a:xfrm>
            <a:off x="2386584" y="5129784"/>
            <a:ext cx="804672" cy="804672"/>
          </a:xfrm>
          <a:prstGeom prst="rect">
            <a:avLst/>
          </a:prstGeom>
        </p:spPr>
      </p:pic>
      <p:sp>
        <p:nvSpPr>
          <p:cNvPr id="9" name="Shape 5"/>
          <p:cNvSpPr/>
          <p:nvPr/>
        </p:nvSpPr>
        <p:spPr>
          <a:xfrm>
            <a:off x="3749040" y="5029200"/>
            <a:ext cx="1005840" cy="1005840"/>
          </a:xfrm>
          <a:prstGeom prst="ellipse">
            <a:avLst/>
          </a:prstGeom>
          <a:solidFill>
            <a:srgbClr val="DCEFD9"/>
          </a:solidFill>
          <a:ln/>
        </p:spPr>
      </p:sp>
      <p:pic>
        <p:nvPicPr>
          <p:cNvPr id="10" name="Image 2" descr="preencoded.png">    </p:cNvPr>
          <p:cNvPicPr>
            <a:picLocks noChangeAspect="1"/>
          </p:cNvPicPr>
          <p:nvPr/>
        </p:nvPicPr>
        <p:blipFill>
          <a:blip r:embed="rId3"/>
          <a:srcRect l="0" r="0" t="0" b="0"/>
          <a:stretch/>
        </p:blipFill>
        <p:spPr>
          <a:xfrm>
            <a:off x="3849624" y="5129784"/>
            <a:ext cx="804672" cy="804672"/>
          </a:xfrm>
          <a:prstGeom prst="rect">
            <a:avLst/>
          </a:prstGeom>
        </p:spPr>
      </p:pic>
      <p:sp>
        <p:nvSpPr>
          <p:cNvPr id="11" name="Shape 6"/>
          <p:cNvSpPr/>
          <p:nvPr/>
        </p:nvSpPr>
        <p:spPr>
          <a:xfrm>
            <a:off x="5212080" y="5029200"/>
            <a:ext cx="1005840" cy="1005840"/>
          </a:xfrm>
          <a:prstGeom prst="ellipse">
            <a:avLst/>
          </a:prstGeom>
          <a:solidFill>
            <a:srgbClr val="DCEFD9"/>
          </a:solidFill>
          <a:ln/>
        </p:spPr>
      </p:sp>
      <p:pic>
        <p:nvPicPr>
          <p:cNvPr id="12" name="Image 3" descr="preencoded.png">    </p:cNvPr>
          <p:cNvPicPr>
            <a:picLocks noChangeAspect="1"/>
          </p:cNvPicPr>
          <p:nvPr/>
        </p:nvPicPr>
        <p:blipFill>
          <a:blip r:embed="rId4"/>
          <a:srcRect l="0" r="0" t="0" b="0"/>
          <a:stretch/>
        </p:blipFill>
        <p:spPr>
          <a:xfrm>
            <a:off x="5312664" y="5129784"/>
            <a:ext cx="804672" cy="804672"/>
          </a:xfrm>
          <a:prstGeom prst="rect">
            <a:avLst/>
          </a:prstGeom>
        </p:spPr>
      </p:pic>
      <p:sp>
        <p:nvSpPr>
          <p:cNvPr id="13" name="Shape 7"/>
          <p:cNvSpPr/>
          <p:nvPr/>
        </p:nvSpPr>
        <p:spPr>
          <a:xfrm>
            <a:off x="6675120" y="5029200"/>
            <a:ext cx="1005840" cy="1005840"/>
          </a:xfrm>
          <a:prstGeom prst="ellipse">
            <a:avLst/>
          </a:prstGeom>
          <a:solidFill>
            <a:srgbClr val="DCEFD9"/>
          </a:solidFill>
          <a:ln/>
        </p:spPr>
      </p:sp>
      <p:pic>
        <p:nvPicPr>
          <p:cNvPr id="14" name="Image 4" descr="preencoded.png">    </p:cNvPr>
          <p:cNvPicPr>
            <a:picLocks noChangeAspect="1"/>
          </p:cNvPicPr>
          <p:nvPr/>
        </p:nvPicPr>
        <p:blipFill>
          <a:blip r:embed="rId5"/>
          <a:srcRect l="0" r="0" t="0" b="0"/>
          <a:stretch/>
        </p:blipFill>
        <p:spPr>
          <a:xfrm>
            <a:off x="6775704" y="5129784"/>
            <a:ext cx="804672" cy="804672"/>
          </a:xfrm>
          <a:prstGeom prst="rect">
            <a:avLst/>
          </a:prstGeom>
        </p:spPr>
      </p:pic>
      <p:sp>
        <p:nvSpPr>
          <p:cNvPr id="15" name="Shape 8"/>
          <p:cNvSpPr/>
          <p:nvPr/>
        </p:nvSpPr>
        <p:spPr>
          <a:xfrm>
            <a:off x="11414455" y="6080760"/>
            <a:ext cx="457200" cy="457200"/>
          </a:xfrm>
          <a:prstGeom prst="ellipse">
            <a:avLst/>
          </a:prstGeom>
          <a:solidFill>
            <a:srgbClr val="14432A"/>
          </a:solidFill>
          <a:ln/>
        </p:spPr>
      </p:sp>
      <p:pic>
        <p:nvPicPr>
          <p:cNvPr id="16" name="Image 5" descr="preencoded.png">    </p:cNvPr>
          <p:cNvPicPr>
            <a:picLocks noChangeAspect="1"/>
          </p:cNvPicPr>
          <p:nvPr/>
        </p:nvPicPr>
        <p:blipFill>
          <a:blip r:embed="rId6"/>
          <a:stretch>
            <a:fillRect/>
          </a:stretch>
        </p:blipFill>
        <p:spPr>
          <a:xfrm>
            <a:off x="11473891" y="6140196"/>
            <a:ext cx="338328" cy="3383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6400800" cy="822960"/>
          </a:xfrm>
          <a:prstGeom prst="rect">
            <a:avLst/>
          </a:prstGeom>
          <a:noFill/>
          <a:ln/>
        </p:spPr>
        <p:txBody>
          <a:bodyPr wrap="square" rtlCol="0" anchor="ctr"/>
          <a:lstStyle/>
          <a:p>
            <a:pPr indent="0" marL="0">
              <a:buNone/>
            </a:pPr>
            <a:r>
              <a:rPr lang="en-US" sz="4000" b="1" dirty="0">
                <a:solidFill>
                  <a:srgbClr val="14432A"/>
                </a:solidFill>
                <a:latin typeface="Cambria" pitchFamily="34" charset="0"/>
                <a:ea typeface="Cambria" pitchFamily="34" charset="-122"/>
                <a:cs typeface="Cambria" pitchFamily="34" charset="-120"/>
              </a:rPr>
              <a:t>Objectives</a:t>
            </a:r>
            <a:endParaRPr lang="en-US" sz="4000" dirty="0"/>
          </a:p>
        </p:txBody>
      </p:sp>
      <p:sp>
        <p:nvSpPr>
          <p:cNvPr id="7" name="Shape 5"/>
          <p:cNvSpPr/>
          <p:nvPr/>
        </p:nvSpPr>
        <p:spPr>
          <a:xfrm>
            <a:off x="640080" y="1600200"/>
            <a:ext cx="7680960" cy="4754880"/>
          </a:xfrm>
          <a:prstGeom prst="roundRect">
            <a:avLst>
              <a:gd name="adj" fmla="val 2308"/>
            </a:avLst>
          </a:prstGeom>
          <a:solidFill>
            <a:srgbClr val="2E8B57"/>
          </a:solidFill>
          <a:ln/>
        </p:spPr>
      </p:sp>
      <p:sp>
        <p:nvSpPr>
          <p:cNvPr id="8" name="Text 6"/>
          <p:cNvSpPr/>
          <p:nvPr/>
        </p:nvSpPr>
        <p:spPr>
          <a:xfrm>
            <a:off x="914400" y="1783080"/>
            <a:ext cx="7132320" cy="4389120"/>
          </a:xfrm>
          <a:prstGeom prst="rect">
            <a:avLst/>
          </a:prstGeom>
          <a:noFill/>
          <a:ln/>
        </p:spPr>
        <p:txBody>
          <a:bodyPr wrap="square"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develop a web-based platform for browsing and purchasing products online.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provide secure customer registration and login functionality.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simplify browsing of multiple product categories (phones, laptops, watches, bags, shoes).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enable customers to add, update, and manage items in a shopping cart.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allow customers to place orders and view order history.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provide a centralized admin dashboard to manage customers.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implement smooth navigation using React Router.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use reusable React components for better maintainability.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improve accuracy and reduce manual effort in store management.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 create a scalable system that can support future enhancements such as payments and live order tracking.</a:t>
            </a:r>
            <a:endParaRPr lang="en-US" sz="1300" dirty="0"/>
          </a:p>
        </p:txBody>
      </p:sp>
      <p:sp>
        <p:nvSpPr>
          <p:cNvPr id="9" name="Shape 7"/>
          <p:cNvSpPr/>
          <p:nvPr/>
        </p:nvSpPr>
        <p:spPr>
          <a:xfrm>
            <a:off x="8778240" y="2377440"/>
            <a:ext cx="2377440" cy="2377440"/>
          </a:xfrm>
          <a:prstGeom prst="ellipse">
            <a:avLst/>
          </a:prstGeom>
          <a:solidFill>
            <a:srgbClr val="DCEFD9"/>
          </a:solidFill>
          <a:ln/>
        </p:spPr>
      </p:sp>
      <p:pic>
        <p:nvPicPr>
          <p:cNvPr id="10" name="Image 0" descr="preencoded.png">    </p:cNvPr>
          <p:cNvPicPr>
            <a:picLocks noChangeAspect="1"/>
          </p:cNvPicPr>
          <p:nvPr/>
        </p:nvPicPr>
        <p:blipFill>
          <a:blip r:embed="rId1"/>
          <a:stretch>
            <a:fillRect/>
          </a:stretch>
        </p:blipFill>
        <p:spPr>
          <a:xfrm>
            <a:off x="9087307" y="2686507"/>
            <a:ext cx="1759306" cy="1759306"/>
          </a:xfrm>
          <a:prstGeom prst="rect">
            <a:avLst/>
          </a:prstGeom>
        </p:spPr>
      </p:pic>
      <p:sp>
        <p:nvSpPr>
          <p:cNvPr id="11" name="Shape 8"/>
          <p:cNvSpPr/>
          <p:nvPr/>
        </p:nvSpPr>
        <p:spPr>
          <a:xfrm>
            <a:off x="11414455" y="6080760"/>
            <a:ext cx="457200" cy="457200"/>
          </a:xfrm>
          <a:prstGeom prst="ellipse">
            <a:avLst/>
          </a:prstGeom>
          <a:solidFill>
            <a:srgbClr val="14432A"/>
          </a:solidFill>
          <a:ln/>
        </p:spPr>
      </p:sp>
      <p:pic>
        <p:nvPicPr>
          <p:cNvPr id="12"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6858000" cy="822960"/>
          </a:xfrm>
          <a:prstGeom prst="rect">
            <a:avLst/>
          </a:prstGeom>
          <a:noFill/>
          <a:ln/>
        </p:spPr>
        <p:txBody>
          <a:bodyPr wrap="square" rtlCol="0" anchor="ctr"/>
          <a:lstStyle/>
          <a:p>
            <a:pPr indent="0" marL="0">
              <a:buNone/>
            </a:pPr>
            <a:r>
              <a:rPr lang="en-US" sz="3800" b="1" dirty="0">
                <a:solidFill>
                  <a:srgbClr val="14432A"/>
                </a:solidFill>
                <a:latin typeface="Cambria" pitchFamily="34" charset="0"/>
                <a:ea typeface="Cambria" pitchFamily="34" charset="-122"/>
                <a:cs typeface="Cambria" pitchFamily="34" charset="-120"/>
              </a:rPr>
              <a:t>Existing System</a:t>
            </a:r>
            <a:endParaRPr lang="en-US" sz="3800" dirty="0"/>
          </a:p>
        </p:txBody>
      </p:sp>
      <p:sp>
        <p:nvSpPr>
          <p:cNvPr id="7" name="Shape 5"/>
          <p:cNvSpPr/>
          <p:nvPr/>
        </p:nvSpPr>
        <p:spPr>
          <a:xfrm>
            <a:off x="640080" y="1554480"/>
            <a:ext cx="7863840" cy="4846320"/>
          </a:xfrm>
          <a:prstGeom prst="roundRect">
            <a:avLst>
              <a:gd name="adj" fmla="val 2264"/>
            </a:avLst>
          </a:prstGeom>
          <a:solidFill>
            <a:srgbClr val="2E8B57"/>
          </a:solidFill>
          <a:ln/>
        </p:spPr>
      </p:sp>
      <p:sp>
        <p:nvSpPr>
          <p:cNvPr id="8" name="Text 6"/>
          <p:cNvSpPr/>
          <p:nvPr/>
        </p:nvSpPr>
        <p:spPr>
          <a:xfrm>
            <a:off x="914400" y="1783080"/>
            <a:ext cx="7315200" cy="192024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Shopping for products across categories is mostly done through separate, disconnected stores or general marketplaces with limited category focus. Customer information, cart data, and order history are not always tracked reliably. Manual or fragmented record-keeping leads to duplication and errors. Tracking customer activity and order status requires significant manual effort, and there is little support for centralized administration.</a:t>
            </a:r>
            <a:endParaRPr lang="en-US" sz="1350" dirty="0"/>
          </a:p>
        </p:txBody>
      </p:sp>
      <p:sp>
        <p:nvSpPr>
          <p:cNvPr id="9" name="Text 7"/>
          <p:cNvSpPr/>
          <p:nvPr/>
        </p:nvSpPr>
        <p:spPr>
          <a:xfrm>
            <a:off x="914400" y="3794760"/>
            <a:ext cx="54864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Drawbacks</a:t>
            </a:r>
            <a:endParaRPr lang="en-US" sz="1600" dirty="0"/>
          </a:p>
        </p:txBody>
      </p:sp>
      <p:sp>
        <p:nvSpPr>
          <p:cNvPr id="10" name="Text 8"/>
          <p:cNvSpPr/>
          <p:nvPr/>
        </p:nvSpPr>
        <p:spPr>
          <a:xfrm>
            <a:off x="914400" y="4206240"/>
            <a:ext cx="7315200" cy="210312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Time-consuming browsing and checkout process.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Higher chances of data inconsistency and errors.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Difficult to manage multiple product categories simultaneously.</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Lack of centralized customer and order information.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Limited accessibility and poor user experience.</a:t>
            </a:r>
            <a:endParaRPr lang="en-US" sz="1300" dirty="0"/>
          </a:p>
        </p:txBody>
      </p:sp>
      <p:sp>
        <p:nvSpPr>
          <p:cNvPr id="11" name="Shape 9"/>
          <p:cNvSpPr/>
          <p:nvPr/>
        </p:nvSpPr>
        <p:spPr>
          <a:xfrm>
            <a:off x="8961120" y="2103120"/>
            <a:ext cx="2194560" cy="2194560"/>
          </a:xfrm>
          <a:prstGeom prst="ellipse">
            <a:avLst/>
          </a:prstGeom>
          <a:solidFill>
            <a:srgbClr val="DCEFD9"/>
          </a:solidFill>
          <a:ln/>
        </p:spPr>
      </p:sp>
      <p:pic>
        <p:nvPicPr>
          <p:cNvPr id="12" name="Image 0" descr="preencoded.png">    </p:cNvPr>
          <p:cNvPicPr>
            <a:picLocks noChangeAspect="1"/>
          </p:cNvPicPr>
          <p:nvPr/>
        </p:nvPicPr>
        <p:blipFill>
          <a:blip r:embed="rId1"/>
          <a:stretch>
            <a:fillRect/>
          </a:stretch>
        </p:blipFill>
        <p:spPr>
          <a:xfrm>
            <a:off x="9246413" y="2388413"/>
            <a:ext cx="1623974" cy="1623974"/>
          </a:xfrm>
          <a:prstGeom prst="rect">
            <a:avLst/>
          </a:prstGeom>
        </p:spPr>
      </p:pic>
      <p:sp>
        <p:nvSpPr>
          <p:cNvPr id="13" name="Shape 10"/>
          <p:cNvSpPr/>
          <p:nvPr/>
        </p:nvSpPr>
        <p:spPr>
          <a:xfrm>
            <a:off x="11414455" y="6080760"/>
            <a:ext cx="457200" cy="457200"/>
          </a:xfrm>
          <a:prstGeom prst="ellipse">
            <a:avLst/>
          </a:prstGeom>
          <a:solidFill>
            <a:srgbClr val="14432A"/>
          </a:solidFill>
          <a:ln/>
        </p:spPr>
      </p:sp>
      <p:pic>
        <p:nvPicPr>
          <p:cNvPr id="14"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432A"/>
        </a:solidFill>
      </p:bgPr>
    </p:bg>
    <p:spTree>
      <p:nvGrpSpPr>
        <p:cNvPr id="1" name=""/>
        <p:cNvGrpSpPr/>
        <p:nvPr/>
      </p:nvGrpSpPr>
      <p:grpSpPr>
        <a:xfrm>
          <a:off x="0" y="0"/>
          <a:ext cx="0" cy="0"/>
          <a:chOff x="0" y="0"/>
          <a:chExt cx="0" cy="0"/>
        </a:xfrm>
      </p:grpSpPr>
      <p:sp>
        <p:nvSpPr>
          <p:cNvPr id="2" name="Text 0"/>
          <p:cNvSpPr/>
          <p:nvPr/>
        </p:nvSpPr>
        <p:spPr>
          <a:xfrm>
            <a:off x="640080" y="502920"/>
            <a:ext cx="8229600" cy="82296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PROPOSED SYSTEM</a:t>
            </a:r>
            <a:endParaRPr lang="en-US" sz="3600" dirty="0"/>
          </a:p>
        </p:txBody>
      </p:sp>
      <p:sp>
        <p:nvSpPr>
          <p:cNvPr id="3" name="Shape 1"/>
          <p:cNvSpPr/>
          <p:nvPr/>
        </p:nvSpPr>
        <p:spPr>
          <a:xfrm>
            <a:off x="8961120" y="566928"/>
            <a:ext cx="109728" cy="109728"/>
          </a:xfrm>
          <a:prstGeom prst="ellipse">
            <a:avLst/>
          </a:prstGeom>
          <a:solidFill>
            <a:srgbClr val="FFFFFF"/>
          </a:solidFill>
          <a:ln w="12700">
            <a:solidFill>
              <a:srgbClr val="14432A"/>
            </a:solidFill>
            <a:prstDash val="solid"/>
          </a:ln>
        </p:spPr>
      </p:sp>
      <p:sp>
        <p:nvSpPr>
          <p:cNvPr id="4" name="Shape 2"/>
          <p:cNvSpPr/>
          <p:nvPr/>
        </p:nvSpPr>
        <p:spPr>
          <a:xfrm>
            <a:off x="9162288" y="566928"/>
            <a:ext cx="109728" cy="109728"/>
          </a:xfrm>
          <a:prstGeom prst="ellipse">
            <a:avLst/>
          </a:prstGeom>
          <a:solidFill>
            <a:srgbClr val="FFFFFF"/>
          </a:solidFill>
          <a:ln w="12700">
            <a:solidFill>
              <a:srgbClr val="14432A"/>
            </a:solidFill>
            <a:prstDash val="solid"/>
          </a:ln>
        </p:spPr>
      </p:sp>
      <p:sp>
        <p:nvSpPr>
          <p:cNvPr id="5" name="Shape 3"/>
          <p:cNvSpPr/>
          <p:nvPr/>
        </p:nvSpPr>
        <p:spPr>
          <a:xfrm>
            <a:off x="9363456" y="566928"/>
            <a:ext cx="109728" cy="109728"/>
          </a:xfrm>
          <a:prstGeom prst="ellipse">
            <a:avLst/>
          </a:prstGeom>
          <a:solidFill>
            <a:srgbClr val="FFFFFF"/>
          </a:solidFill>
          <a:ln w="12700">
            <a:solidFill>
              <a:srgbClr val="14432A"/>
            </a:solidFill>
            <a:prstDash val="solid"/>
          </a:ln>
        </p:spPr>
      </p:sp>
      <p:sp>
        <p:nvSpPr>
          <p:cNvPr id="6" name="Shape 4"/>
          <p:cNvSpPr/>
          <p:nvPr/>
        </p:nvSpPr>
        <p:spPr>
          <a:xfrm>
            <a:off x="9564624" y="566928"/>
            <a:ext cx="109728" cy="109728"/>
          </a:xfrm>
          <a:prstGeom prst="ellipse">
            <a:avLst/>
          </a:prstGeom>
          <a:solidFill>
            <a:srgbClr val="FFFFFF"/>
          </a:solidFill>
          <a:ln w="12700">
            <a:solidFill>
              <a:srgbClr val="14432A"/>
            </a:solidFill>
            <a:prstDash val="solid"/>
          </a:ln>
        </p:spPr>
      </p:sp>
      <p:sp>
        <p:nvSpPr>
          <p:cNvPr id="7" name="Shape 5"/>
          <p:cNvSpPr/>
          <p:nvPr/>
        </p:nvSpPr>
        <p:spPr>
          <a:xfrm>
            <a:off x="640080" y="1463040"/>
            <a:ext cx="10881360" cy="4206240"/>
          </a:xfrm>
          <a:prstGeom prst="roundRect">
            <a:avLst>
              <a:gd name="adj" fmla="val 2609"/>
            </a:avLst>
          </a:prstGeom>
          <a:solidFill>
            <a:srgbClr val="1F5C39"/>
          </a:solidFill>
          <a:ln/>
        </p:spPr>
      </p:sp>
      <p:sp>
        <p:nvSpPr>
          <p:cNvPr id="8" name="Text 6"/>
          <p:cNvSpPr/>
          <p:nvPr/>
        </p:nvSpPr>
        <p:spPr>
          <a:xfrm>
            <a:off x="914400" y="1737360"/>
            <a:ext cx="7315200" cy="3749040"/>
          </a:xfrm>
          <a:prstGeom prst="rect">
            <a:avLst/>
          </a:prstGeom>
          <a:noFill/>
          <a:ln/>
        </p:spPr>
        <p:txBody>
          <a:bodyPr wrap="square"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Develop a web-based Online Shopping Platform for multiple product categories.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Provide secure customer login and registration facilities.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Enable browsing and viewing of products through dedicated category pages.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Support shopping cart management, including adding and saving items.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Automate order placement and maintain order history per customer.</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Offer a centralized admin dashboard to view and manage customers.</a:t>
            </a:r>
            <a:endParaRPr lang="en-US" sz="1500" dirty="0"/>
          </a:p>
        </p:txBody>
      </p:sp>
      <p:sp>
        <p:nvSpPr>
          <p:cNvPr id="9" name="Shape 7"/>
          <p:cNvSpPr/>
          <p:nvPr/>
        </p:nvSpPr>
        <p:spPr>
          <a:xfrm>
            <a:off x="8778240" y="2377440"/>
            <a:ext cx="914400" cy="914400"/>
          </a:xfrm>
          <a:prstGeom prst="ellipse">
            <a:avLst/>
          </a:prstGeom>
          <a:solidFill>
            <a:srgbClr val="2E8B57"/>
          </a:solidFill>
          <a:ln/>
        </p:spPr>
      </p:sp>
      <p:pic>
        <p:nvPicPr>
          <p:cNvPr id="10" name="Image 0" descr="preencoded.png">    </p:cNvPr>
          <p:cNvPicPr>
            <a:picLocks noChangeAspect="1"/>
          </p:cNvPicPr>
          <p:nvPr/>
        </p:nvPicPr>
        <p:blipFill>
          <a:blip r:embed="rId1"/>
          <a:stretch>
            <a:fillRect/>
          </a:stretch>
        </p:blipFill>
        <p:spPr>
          <a:xfrm>
            <a:off x="8897112" y="2496312"/>
            <a:ext cx="676656" cy="676656"/>
          </a:xfrm>
          <a:prstGeom prst="rect">
            <a:avLst/>
          </a:prstGeom>
        </p:spPr>
      </p:pic>
      <p:sp>
        <p:nvSpPr>
          <p:cNvPr id="11" name="Shape 8"/>
          <p:cNvSpPr/>
          <p:nvPr/>
        </p:nvSpPr>
        <p:spPr>
          <a:xfrm>
            <a:off x="9784080" y="2377440"/>
            <a:ext cx="914400" cy="914400"/>
          </a:xfrm>
          <a:prstGeom prst="ellipse">
            <a:avLst/>
          </a:prstGeom>
          <a:solidFill>
            <a:srgbClr val="8FBF6E"/>
          </a:solidFill>
          <a:ln/>
        </p:spPr>
      </p:sp>
      <p:pic>
        <p:nvPicPr>
          <p:cNvPr id="12" name="Image 1" descr="preencoded.png">    </p:cNvPr>
          <p:cNvPicPr>
            <a:picLocks noChangeAspect="1"/>
          </p:cNvPicPr>
          <p:nvPr/>
        </p:nvPicPr>
        <p:blipFill>
          <a:blip r:embed="rId2"/>
          <a:stretch>
            <a:fillRect/>
          </a:stretch>
        </p:blipFill>
        <p:spPr>
          <a:xfrm>
            <a:off x="9902952" y="2496312"/>
            <a:ext cx="676656" cy="676656"/>
          </a:xfrm>
          <a:prstGeom prst="rect">
            <a:avLst/>
          </a:prstGeom>
        </p:spPr>
      </p:pic>
      <p:sp>
        <p:nvSpPr>
          <p:cNvPr id="13" name="Shape 9"/>
          <p:cNvSpPr/>
          <p:nvPr/>
        </p:nvSpPr>
        <p:spPr>
          <a:xfrm>
            <a:off x="8778240" y="3429000"/>
            <a:ext cx="914400" cy="914400"/>
          </a:xfrm>
          <a:prstGeom prst="ellipse">
            <a:avLst/>
          </a:prstGeom>
          <a:solidFill>
            <a:srgbClr val="8FBF6E"/>
          </a:solidFill>
          <a:ln/>
        </p:spPr>
      </p:sp>
      <p:pic>
        <p:nvPicPr>
          <p:cNvPr id="14" name="Image 2" descr="preencoded.png">    </p:cNvPr>
          <p:cNvPicPr>
            <a:picLocks noChangeAspect="1"/>
          </p:cNvPicPr>
          <p:nvPr/>
        </p:nvPicPr>
        <p:blipFill>
          <a:blip r:embed="rId3"/>
          <a:srcRect l="0" r="0" t="0" b="0"/>
          <a:stretch/>
        </p:blipFill>
        <p:spPr>
          <a:xfrm>
            <a:off x="8869680" y="3520440"/>
            <a:ext cx="731520" cy="731520"/>
          </a:xfrm>
          <a:prstGeom prst="rect">
            <a:avLst/>
          </a:prstGeom>
        </p:spPr>
      </p:pic>
      <p:sp>
        <p:nvSpPr>
          <p:cNvPr id="15" name="Shape 10"/>
          <p:cNvSpPr/>
          <p:nvPr/>
        </p:nvSpPr>
        <p:spPr>
          <a:xfrm>
            <a:off x="9784080" y="3429000"/>
            <a:ext cx="914400" cy="914400"/>
          </a:xfrm>
          <a:prstGeom prst="ellipse">
            <a:avLst/>
          </a:prstGeom>
          <a:solidFill>
            <a:srgbClr val="2E8B57"/>
          </a:solidFill>
          <a:ln/>
        </p:spPr>
      </p:sp>
      <p:pic>
        <p:nvPicPr>
          <p:cNvPr id="16" name="Image 3" descr="preencoded.png">    </p:cNvPr>
          <p:cNvPicPr>
            <a:picLocks noChangeAspect="1"/>
          </p:cNvPicPr>
          <p:nvPr/>
        </p:nvPicPr>
        <p:blipFill>
          <a:blip r:embed="rId4"/>
          <a:srcRect l="0" r="0" t="0" b="0"/>
          <a:stretch/>
        </p:blipFill>
        <p:spPr>
          <a:xfrm>
            <a:off x="9875520" y="3520440"/>
            <a:ext cx="731520" cy="731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7315200" cy="822960"/>
          </a:xfrm>
          <a:prstGeom prst="rect">
            <a:avLst/>
          </a:prstGeom>
          <a:noFill/>
          <a:ln/>
        </p:spPr>
        <p:txBody>
          <a:bodyPr wrap="square" rtlCol="0" anchor="ctr"/>
          <a:lstStyle/>
          <a:p>
            <a:pPr indent="0" marL="0">
              <a:buNone/>
            </a:pPr>
            <a:r>
              <a:rPr lang="en-US" sz="3800" b="1" dirty="0">
                <a:solidFill>
                  <a:srgbClr val="14432A"/>
                </a:solidFill>
                <a:latin typeface="Cambria" pitchFamily="34" charset="0"/>
                <a:ea typeface="Cambria" pitchFamily="34" charset="-122"/>
                <a:cs typeface="Cambria" pitchFamily="34" charset="-120"/>
              </a:rPr>
              <a:t>Technology Used</a:t>
            </a:r>
            <a:endParaRPr lang="en-US" sz="3800" dirty="0"/>
          </a:p>
        </p:txBody>
      </p:sp>
      <p:sp>
        <p:nvSpPr>
          <p:cNvPr id="7" name="Shape 5"/>
          <p:cNvSpPr/>
          <p:nvPr/>
        </p:nvSpPr>
        <p:spPr>
          <a:xfrm>
            <a:off x="640080" y="1600200"/>
            <a:ext cx="7315200" cy="4572000"/>
          </a:xfrm>
          <a:prstGeom prst="roundRect">
            <a:avLst>
              <a:gd name="adj" fmla="val 2400"/>
            </a:avLst>
          </a:prstGeom>
          <a:solidFill>
            <a:srgbClr val="2E8B57"/>
          </a:solidFill>
          <a:ln/>
        </p:spPr>
      </p:sp>
      <p:sp>
        <p:nvSpPr>
          <p:cNvPr id="8" name="Text 6"/>
          <p:cNvSpPr/>
          <p:nvPr/>
        </p:nvSpPr>
        <p:spPr>
          <a:xfrm>
            <a:off x="914400" y="1828800"/>
            <a:ext cx="6766560" cy="411480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Frontend: React.js, Vite</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Backend: Node.js, Express.js</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Database: JSON file-based storage (db.json)</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Programming Language: JavaScript</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Styling: CSS</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Routing: React Router DOM</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State Management: React Hooks (useState, useEffect)</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Development Tool: VS Code</a:t>
            </a:r>
            <a:endParaRPr lang="en-US" sz="1500" dirty="0"/>
          </a:p>
        </p:txBody>
      </p:sp>
      <p:sp>
        <p:nvSpPr>
          <p:cNvPr id="9" name="Shape 7"/>
          <p:cNvSpPr/>
          <p:nvPr/>
        </p:nvSpPr>
        <p:spPr>
          <a:xfrm>
            <a:off x="8686800" y="2194560"/>
            <a:ext cx="2377440" cy="2377440"/>
          </a:xfrm>
          <a:prstGeom prst="ellipse">
            <a:avLst/>
          </a:prstGeom>
          <a:solidFill>
            <a:srgbClr val="DCEFD9"/>
          </a:solidFill>
          <a:ln/>
        </p:spPr>
      </p:sp>
      <p:pic>
        <p:nvPicPr>
          <p:cNvPr id="10" name="Image 0" descr="preencoded.png">    </p:cNvPr>
          <p:cNvPicPr>
            <a:picLocks noChangeAspect="1"/>
          </p:cNvPicPr>
          <p:nvPr/>
        </p:nvPicPr>
        <p:blipFill>
          <a:blip r:embed="rId1"/>
          <a:stretch>
            <a:fillRect/>
          </a:stretch>
        </p:blipFill>
        <p:spPr>
          <a:xfrm>
            <a:off x="8995867" y="2503627"/>
            <a:ext cx="1759306" cy="1759306"/>
          </a:xfrm>
          <a:prstGeom prst="rect">
            <a:avLst/>
          </a:prstGeom>
        </p:spPr>
      </p:pic>
      <p:sp>
        <p:nvSpPr>
          <p:cNvPr id="11" name="Shape 8"/>
          <p:cNvSpPr/>
          <p:nvPr/>
        </p:nvSpPr>
        <p:spPr>
          <a:xfrm>
            <a:off x="11414455" y="6080760"/>
            <a:ext cx="457200" cy="457200"/>
          </a:xfrm>
          <a:prstGeom prst="ellipse">
            <a:avLst/>
          </a:prstGeom>
          <a:solidFill>
            <a:srgbClr val="14432A"/>
          </a:solidFill>
          <a:ln/>
        </p:spPr>
      </p:sp>
      <p:pic>
        <p:nvPicPr>
          <p:cNvPr id="12"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5486400" cy="822960"/>
          </a:xfrm>
          <a:prstGeom prst="rect">
            <a:avLst/>
          </a:prstGeom>
          <a:noFill/>
          <a:ln/>
        </p:spPr>
        <p:txBody>
          <a:bodyPr wrap="square" rtlCol="0" anchor="ctr"/>
          <a:lstStyle/>
          <a:p>
            <a:pPr indent="0" marL="0">
              <a:buNone/>
            </a:pPr>
            <a:r>
              <a:rPr lang="en-US" sz="4000" b="1" dirty="0">
                <a:solidFill>
                  <a:srgbClr val="14432A"/>
                </a:solidFill>
                <a:latin typeface="Cambria" pitchFamily="34" charset="0"/>
                <a:ea typeface="Cambria" pitchFamily="34" charset="-122"/>
                <a:cs typeface="Cambria" pitchFamily="34" charset="-120"/>
              </a:rPr>
              <a:t>Modules</a:t>
            </a:r>
            <a:endParaRPr lang="en-US" sz="4000" dirty="0"/>
          </a:p>
        </p:txBody>
      </p:sp>
      <p:sp>
        <p:nvSpPr>
          <p:cNvPr id="7" name="Shape 5"/>
          <p:cNvSpPr/>
          <p:nvPr/>
        </p:nvSpPr>
        <p:spPr>
          <a:xfrm>
            <a:off x="640080" y="1645920"/>
            <a:ext cx="6949440" cy="4206240"/>
          </a:xfrm>
          <a:prstGeom prst="roundRect">
            <a:avLst>
              <a:gd name="adj" fmla="val 2609"/>
            </a:avLst>
          </a:prstGeom>
          <a:solidFill>
            <a:srgbClr val="2E8B57"/>
          </a:solidFill>
          <a:ln/>
        </p:spPr>
      </p:sp>
      <p:sp>
        <p:nvSpPr>
          <p:cNvPr id="8" name="Text 6"/>
          <p:cNvSpPr/>
          <p:nvPr/>
        </p:nvSpPr>
        <p:spPr>
          <a:xfrm>
            <a:off x="914400" y="1874520"/>
            <a:ext cx="640080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 User Authentication Module</a:t>
            </a:r>
            <a:endParaRPr lang="en-US" sz="2000" dirty="0"/>
          </a:p>
        </p:txBody>
      </p:sp>
      <p:sp>
        <p:nvSpPr>
          <p:cNvPr id="9" name="Text 7"/>
          <p:cNvSpPr/>
          <p:nvPr/>
        </p:nvSpPr>
        <p:spPr>
          <a:xfrm>
            <a:off x="1188720" y="2560320"/>
            <a:ext cx="5943600" cy="2743200"/>
          </a:xfrm>
          <a:prstGeom prst="rect">
            <a:avLst/>
          </a:prstGeom>
          <a:noFill/>
          <a:ln/>
        </p:spPr>
        <p:txBody>
          <a:bodyPr wrap="square" rtlCol="0" anchor="t"/>
          <a:lstStyle/>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Customer Registration</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Customer Login</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Admin Login</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Protected Routes</a:t>
            </a:r>
            <a:endParaRPr lang="en-US" sz="1600" dirty="0"/>
          </a:p>
        </p:txBody>
      </p:sp>
      <p:sp>
        <p:nvSpPr>
          <p:cNvPr id="10" name="Shape 8"/>
          <p:cNvSpPr/>
          <p:nvPr/>
        </p:nvSpPr>
        <p:spPr>
          <a:xfrm>
            <a:off x="8229600" y="2286000"/>
            <a:ext cx="2743200" cy="2743200"/>
          </a:xfrm>
          <a:prstGeom prst="ellipse">
            <a:avLst/>
          </a:prstGeom>
          <a:solidFill>
            <a:srgbClr val="DCEFD9"/>
          </a:solidFill>
          <a:ln/>
        </p:spPr>
      </p:sp>
      <p:pic>
        <p:nvPicPr>
          <p:cNvPr id="11" name="Image 0" descr="preencoded.png">    </p:cNvPr>
          <p:cNvPicPr>
            <a:picLocks noChangeAspect="1"/>
          </p:cNvPicPr>
          <p:nvPr/>
        </p:nvPicPr>
        <p:blipFill>
          <a:blip r:embed="rId1"/>
          <a:stretch>
            <a:fillRect/>
          </a:stretch>
        </p:blipFill>
        <p:spPr>
          <a:xfrm>
            <a:off x="8586216" y="2642616"/>
            <a:ext cx="2029968" cy="2029968"/>
          </a:xfrm>
          <a:prstGeom prst="rect">
            <a:avLst/>
          </a:prstGeom>
        </p:spPr>
      </p:pic>
      <p:sp>
        <p:nvSpPr>
          <p:cNvPr id="12" name="Shape 9"/>
          <p:cNvSpPr/>
          <p:nvPr/>
        </p:nvSpPr>
        <p:spPr>
          <a:xfrm>
            <a:off x="11414455" y="6080760"/>
            <a:ext cx="457200" cy="457200"/>
          </a:xfrm>
          <a:prstGeom prst="ellipse">
            <a:avLst/>
          </a:prstGeom>
          <a:solidFill>
            <a:srgbClr val="14432A"/>
          </a:solidFill>
          <a:ln/>
        </p:spPr>
      </p:sp>
      <p:pic>
        <p:nvPicPr>
          <p:cNvPr id="13"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5212080" cy="2651760"/>
          </a:xfrm>
          <a:prstGeom prst="roundRect">
            <a:avLst>
              <a:gd name="adj" fmla="val 4138"/>
            </a:avLst>
          </a:prstGeom>
          <a:solidFill>
            <a:srgbClr val="14432A"/>
          </a:solidFill>
          <a:ln/>
        </p:spPr>
      </p:sp>
      <p:sp>
        <p:nvSpPr>
          <p:cNvPr id="3" name="Text 1"/>
          <p:cNvSpPr/>
          <p:nvPr/>
        </p:nvSpPr>
        <p:spPr>
          <a:xfrm>
            <a:off x="914400" y="777240"/>
            <a:ext cx="466344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 Dashboard / Home Module</a:t>
            </a:r>
            <a:endParaRPr lang="en-US" sz="1700" dirty="0"/>
          </a:p>
        </p:txBody>
      </p:sp>
      <p:sp>
        <p:nvSpPr>
          <p:cNvPr id="4" name="Text 2"/>
          <p:cNvSpPr/>
          <p:nvPr/>
        </p:nvSpPr>
        <p:spPr>
          <a:xfrm>
            <a:off x="914400" y="1280160"/>
            <a:ext cx="4663440" cy="1737360"/>
          </a:xfrm>
          <a:prstGeom prst="rect">
            <a:avLst/>
          </a:prstGeom>
          <a:noFill/>
          <a:ln/>
        </p:spPr>
        <p:txBody>
          <a:bodyPr wrap="square" rtlCol="0" anchor="t"/>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Centralized navigation</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Access to all product categories</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User-friendly interface</a:t>
            </a:r>
            <a:endParaRPr lang="en-US" sz="1350" dirty="0"/>
          </a:p>
        </p:txBody>
      </p:sp>
      <p:sp>
        <p:nvSpPr>
          <p:cNvPr id="5" name="Shape 3"/>
          <p:cNvSpPr/>
          <p:nvPr/>
        </p:nvSpPr>
        <p:spPr>
          <a:xfrm>
            <a:off x="6126480" y="3383280"/>
            <a:ext cx="5394960" cy="2651760"/>
          </a:xfrm>
          <a:prstGeom prst="roundRect">
            <a:avLst>
              <a:gd name="adj" fmla="val 4138"/>
            </a:avLst>
          </a:prstGeom>
          <a:solidFill>
            <a:srgbClr val="2E8B57"/>
          </a:solidFill>
          <a:ln/>
        </p:spPr>
      </p:sp>
      <p:sp>
        <p:nvSpPr>
          <p:cNvPr id="6" name="Text 4"/>
          <p:cNvSpPr/>
          <p:nvPr/>
        </p:nvSpPr>
        <p:spPr>
          <a:xfrm>
            <a:off x="6400800" y="3611880"/>
            <a:ext cx="484632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3. Product Catalog Module</a:t>
            </a:r>
            <a:endParaRPr lang="en-US" sz="1700" dirty="0"/>
          </a:p>
        </p:txBody>
      </p:sp>
      <p:sp>
        <p:nvSpPr>
          <p:cNvPr id="7" name="Text 5"/>
          <p:cNvSpPr/>
          <p:nvPr/>
        </p:nvSpPr>
        <p:spPr>
          <a:xfrm>
            <a:off x="6400800" y="4114800"/>
            <a:ext cx="4846320" cy="1828800"/>
          </a:xfrm>
          <a:prstGeom prst="rect">
            <a:avLst/>
          </a:prstGeom>
          <a:noFill/>
          <a:ln/>
        </p:spPr>
        <p:txBody>
          <a:bodyPr wrap="square" rtlCol="0" anchor="t"/>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View Phones, Laptops, Watches, Bags, Shoes</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Category-wise product display</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Dynamic product pages</a:t>
            </a:r>
            <a:endParaRPr lang="en-US" sz="1350" dirty="0"/>
          </a:p>
        </p:txBody>
      </p:sp>
      <p:sp>
        <p:nvSpPr>
          <p:cNvPr id="8" name="Shape 6"/>
          <p:cNvSpPr/>
          <p:nvPr/>
        </p:nvSpPr>
        <p:spPr>
          <a:xfrm>
            <a:off x="6675120" y="868680"/>
            <a:ext cx="1920240" cy="1920240"/>
          </a:xfrm>
          <a:prstGeom prst="ellipse">
            <a:avLst/>
          </a:prstGeom>
          <a:solidFill>
            <a:srgbClr val="DCEFD9"/>
          </a:solidFill>
          <a:ln/>
        </p:spPr>
      </p:sp>
      <p:pic>
        <p:nvPicPr>
          <p:cNvPr id="9" name="Image 0" descr="preencoded.png">    </p:cNvPr>
          <p:cNvPicPr>
            <a:picLocks noChangeAspect="1"/>
          </p:cNvPicPr>
          <p:nvPr/>
        </p:nvPicPr>
        <p:blipFill>
          <a:blip r:embed="rId1"/>
          <a:stretch>
            <a:fillRect/>
          </a:stretch>
        </p:blipFill>
        <p:spPr>
          <a:xfrm>
            <a:off x="6924751" y="1118311"/>
            <a:ext cx="1420978" cy="1420978"/>
          </a:xfrm>
          <a:prstGeom prst="rect">
            <a:avLst/>
          </a:prstGeom>
        </p:spPr>
      </p:pic>
      <p:sp>
        <p:nvSpPr>
          <p:cNvPr id="10" name="Shape 7"/>
          <p:cNvSpPr/>
          <p:nvPr/>
        </p:nvSpPr>
        <p:spPr>
          <a:xfrm>
            <a:off x="502920" y="4069080"/>
            <a:ext cx="960120" cy="960120"/>
          </a:xfrm>
          <a:prstGeom prst="ellipse">
            <a:avLst/>
          </a:prstGeom>
          <a:solidFill>
            <a:srgbClr val="DCEFD9"/>
          </a:solidFill>
          <a:ln/>
        </p:spPr>
      </p:sp>
      <p:pic>
        <p:nvPicPr>
          <p:cNvPr id="11" name="Image 1" descr="preencoded.png">    </p:cNvPr>
          <p:cNvPicPr>
            <a:picLocks noChangeAspect="1"/>
          </p:cNvPicPr>
          <p:nvPr/>
        </p:nvPicPr>
        <p:blipFill>
          <a:blip r:embed="rId2"/>
          <a:srcRect l="0" r="0" t="0" b="0"/>
          <a:stretch/>
        </p:blipFill>
        <p:spPr>
          <a:xfrm>
            <a:off x="598932" y="4165092"/>
            <a:ext cx="768096" cy="768096"/>
          </a:xfrm>
          <a:prstGeom prst="rect">
            <a:avLst/>
          </a:prstGeom>
        </p:spPr>
      </p:pic>
      <p:sp>
        <p:nvSpPr>
          <p:cNvPr id="12" name="Shape 8"/>
          <p:cNvSpPr/>
          <p:nvPr/>
        </p:nvSpPr>
        <p:spPr>
          <a:xfrm>
            <a:off x="1508760" y="4069080"/>
            <a:ext cx="960120" cy="960120"/>
          </a:xfrm>
          <a:prstGeom prst="ellipse">
            <a:avLst/>
          </a:prstGeom>
          <a:solidFill>
            <a:srgbClr val="DCEFD9"/>
          </a:solidFill>
          <a:ln/>
        </p:spPr>
      </p:sp>
      <p:pic>
        <p:nvPicPr>
          <p:cNvPr id="13" name="Image 2" descr="preencoded.png">    </p:cNvPr>
          <p:cNvPicPr>
            <a:picLocks noChangeAspect="1"/>
          </p:cNvPicPr>
          <p:nvPr/>
        </p:nvPicPr>
        <p:blipFill>
          <a:blip r:embed="rId3"/>
          <a:srcRect l="0" r="0" t="0" b="0"/>
          <a:stretch/>
        </p:blipFill>
        <p:spPr>
          <a:xfrm>
            <a:off x="1604772" y="4165092"/>
            <a:ext cx="768096" cy="768096"/>
          </a:xfrm>
          <a:prstGeom prst="rect">
            <a:avLst/>
          </a:prstGeom>
        </p:spPr>
      </p:pic>
      <p:sp>
        <p:nvSpPr>
          <p:cNvPr id="14" name="Shape 9"/>
          <p:cNvSpPr/>
          <p:nvPr/>
        </p:nvSpPr>
        <p:spPr>
          <a:xfrm>
            <a:off x="2514600" y="4069080"/>
            <a:ext cx="960120" cy="960120"/>
          </a:xfrm>
          <a:prstGeom prst="ellipse">
            <a:avLst/>
          </a:prstGeom>
          <a:solidFill>
            <a:srgbClr val="DCEFD9"/>
          </a:solidFill>
          <a:ln/>
        </p:spPr>
      </p:sp>
      <p:pic>
        <p:nvPicPr>
          <p:cNvPr id="15" name="Image 3" descr="preencoded.png">    </p:cNvPr>
          <p:cNvPicPr>
            <a:picLocks noChangeAspect="1"/>
          </p:cNvPicPr>
          <p:nvPr/>
        </p:nvPicPr>
        <p:blipFill>
          <a:blip r:embed="rId4"/>
          <a:srcRect l="0" r="0" t="0" b="0"/>
          <a:stretch/>
        </p:blipFill>
        <p:spPr>
          <a:xfrm>
            <a:off x="2610612" y="4165092"/>
            <a:ext cx="768096" cy="768096"/>
          </a:xfrm>
          <a:prstGeom prst="rect">
            <a:avLst/>
          </a:prstGeom>
        </p:spPr>
      </p:pic>
      <p:sp>
        <p:nvSpPr>
          <p:cNvPr id="16" name="Shape 10"/>
          <p:cNvSpPr/>
          <p:nvPr/>
        </p:nvSpPr>
        <p:spPr>
          <a:xfrm>
            <a:off x="3520440" y="4069080"/>
            <a:ext cx="960120" cy="960120"/>
          </a:xfrm>
          <a:prstGeom prst="ellipse">
            <a:avLst/>
          </a:prstGeom>
          <a:solidFill>
            <a:srgbClr val="DCEFD9"/>
          </a:solidFill>
          <a:ln/>
        </p:spPr>
      </p:sp>
      <p:pic>
        <p:nvPicPr>
          <p:cNvPr id="17" name="Image 4" descr="preencoded.png">    </p:cNvPr>
          <p:cNvPicPr>
            <a:picLocks noChangeAspect="1"/>
          </p:cNvPicPr>
          <p:nvPr/>
        </p:nvPicPr>
        <p:blipFill>
          <a:blip r:embed="rId5"/>
          <a:srcRect l="0" r="0" t="0" b="0"/>
          <a:stretch/>
        </p:blipFill>
        <p:spPr>
          <a:xfrm>
            <a:off x="3616452" y="4165092"/>
            <a:ext cx="768096" cy="768096"/>
          </a:xfrm>
          <a:prstGeom prst="rect">
            <a:avLst/>
          </a:prstGeom>
        </p:spPr>
      </p:pic>
      <p:sp>
        <p:nvSpPr>
          <p:cNvPr id="18" name="Shape 11"/>
          <p:cNvSpPr/>
          <p:nvPr/>
        </p:nvSpPr>
        <p:spPr>
          <a:xfrm>
            <a:off x="4526280" y="4069080"/>
            <a:ext cx="960120" cy="960120"/>
          </a:xfrm>
          <a:prstGeom prst="ellipse">
            <a:avLst/>
          </a:prstGeom>
          <a:solidFill>
            <a:srgbClr val="DCEFD9"/>
          </a:solidFill>
          <a:ln/>
        </p:spPr>
      </p:sp>
      <p:pic>
        <p:nvPicPr>
          <p:cNvPr id="19" name="Image 5" descr="preencoded.png">    </p:cNvPr>
          <p:cNvPicPr>
            <a:picLocks noChangeAspect="1"/>
          </p:cNvPicPr>
          <p:nvPr/>
        </p:nvPicPr>
        <p:blipFill>
          <a:blip r:embed="rId6"/>
          <a:srcRect l="0" r="0" t="0" b="0"/>
          <a:stretch/>
        </p:blipFill>
        <p:spPr>
          <a:xfrm>
            <a:off x="4622292" y="4165092"/>
            <a:ext cx="768096" cy="768096"/>
          </a:xfrm>
          <a:prstGeom prst="rect">
            <a:avLst/>
          </a:prstGeom>
        </p:spPr>
      </p:pic>
      <p:sp>
        <p:nvSpPr>
          <p:cNvPr id="20" name="Shape 12"/>
          <p:cNvSpPr/>
          <p:nvPr/>
        </p:nvSpPr>
        <p:spPr>
          <a:xfrm>
            <a:off x="11414455" y="6080760"/>
            <a:ext cx="457200" cy="457200"/>
          </a:xfrm>
          <a:prstGeom prst="ellipse">
            <a:avLst/>
          </a:prstGeom>
          <a:solidFill>
            <a:srgbClr val="14432A"/>
          </a:solidFill>
          <a:ln/>
        </p:spPr>
      </p:sp>
      <p:pic>
        <p:nvPicPr>
          <p:cNvPr id="21" name="Image 6" descr="preencoded.png">    </p:cNvPr>
          <p:cNvPicPr>
            <a:picLocks noChangeAspect="1"/>
          </p:cNvPicPr>
          <p:nvPr/>
        </p:nvPicPr>
        <p:blipFill>
          <a:blip r:embed="rId7"/>
          <a:stretch>
            <a:fillRect/>
          </a:stretch>
        </p:blipFill>
        <p:spPr>
          <a:xfrm>
            <a:off x="11473891" y="6140196"/>
            <a:ext cx="338328" cy="3383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5394960" cy="2651760"/>
          </a:xfrm>
          <a:prstGeom prst="roundRect">
            <a:avLst>
              <a:gd name="adj" fmla="val 4138"/>
            </a:avLst>
          </a:prstGeom>
          <a:solidFill>
            <a:srgbClr val="2E8B57"/>
          </a:solidFill>
          <a:ln/>
        </p:spPr>
      </p:sp>
      <p:sp>
        <p:nvSpPr>
          <p:cNvPr id="3" name="Text 1"/>
          <p:cNvSpPr/>
          <p:nvPr/>
        </p:nvSpPr>
        <p:spPr>
          <a:xfrm>
            <a:off x="914400" y="777240"/>
            <a:ext cx="484632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4. Cart Management Module</a:t>
            </a:r>
            <a:endParaRPr lang="en-US" sz="1700" dirty="0"/>
          </a:p>
        </p:txBody>
      </p:sp>
      <p:sp>
        <p:nvSpPr>
          <p:cNvPr id="4" name="Text 2"/>
          <p:cNvSpPr/>
          <p:nvPr/>
        </p:nvSpPr>
        <p:spPr>
          <a:xfrm>
            <a:off x="914400" y="1280160"/>
            <a:ext cx="4846320" cy="1737360"/>
          </a:xfrm>
          <a:prstGeom prst="rect">
            <a:avLst/>
          </a:prstGeom>
          <a:noFill/>
          <a:ln/>
        </p:spPr>
        <p:txBody>
          <a:bodyPr wrap="square" rtlCol="0" anchor="t"/>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Add and remove products from cart</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Save cart per customer</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View running total</a:t>
            </a:r>
            <a:endParaRPr lang="en-US" sz="1350" dirty="0"/>
          </a:p>
        </p:txBody>
      </p:sp>
      <p:sp>
        <p:nvSpPr>
          <p:cNvPr id="5" name="Shape 3"/>
          <p:cNvSpPr/>
          <p:nvPr/>
        </p:nvSpPr>
        <p:spPr>
          <a:xfrm>
            <a:off x="6309360" y="3383280"/>
            <a:ext cx="5212080" cy="2651760"/>
          </a:xfrm>
          <a:prstGeom prst="roundRect">
            <a:avLst>
              <a:gd name="adj" fmla="val 4138"/>
            </a:avLst>
          </a:prstGeom>
          <a:solidFill>
            <a:srgbClr val="14432A"/>
          </a:solidFill>
          <a:ln/>
        </p:spPr>
      </p:sp>
      <p:sp>
        <p:nvSpPr>
          <p:cNvPr id="6" name="Text 4"/>
          <p:cNvSpPr/>
          <p:nvPr/>
        </p:nvSpPr>
        <p:spPr>
          <a:xfrm>
            <a:off x="6583680" y="3611880"/>
            <a:ext cx="466344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5. Order Management Module</a:t>
            </a:r>
            <a:endParaRPr lang="en-US" sz="1700" dirty="0"/>
          </a:p>
        </p:txBody>
      </p:sp>
      <p:sp>
        <p:nvSpPr>
          <p:cNvPr id="7" name="Text 5"/>
          <p:cNvSpPr/>
          <p:nvPr/>
        </p:nvSpPr>
        <p:spPr>
          <a:xfrm>
            <a:off x="6583680" y="4114800"/>
            <a:ext cx="4663440" cy="1828800"/>
          </a:xfrm>
          <a:prstGeom prst="rect">
            <a:avLst/>
          </a:prstGeom>
          <a:noFill/>
          <a:ln/>
        </p:spPr>
        <p:txBody>
          <a:bodyPr wrap="square" rtlCol="0" anchor="t"/>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Place orders from cart</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Store order details and totals</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Maintain order history</a:t>
            </a:r>
            <a:endParaRPr lang="en-US" sz="1350" dirty="0"/>
          </a:p>
        </p:txBody>
      </p:sp>
      <p:sp>
        <p:nvSpPr>
          <p:cNvPr id="8" name="Shape 6"/>
          <p:cNvSpPr/>
          <p:nvPr/>
        </p:nvSpPr>
        <p:spPr>
          <a:xfrm>
            <a:off x="6766560" y="868680"/>
            <a:ext cx="1920240" cy="1920240"/>
          </a:xfrm>
          <a:prstGeom prst="ellipse">
            <a:avLst/>
          </a:prstGeom>
          <a:solidFill>
            <a:srgbClr val="DCEFD9"/>
          </a:solidFill>
          <a:ln/>
        </p:spPr>
      </p:sp>
      <p:pic>
        <p:nvPicPr>
          <p:cNvPr id="9" name="Image 0" descr="preencoded.png">    </p:cNvPr>
          <p:cNvPicPr>
            <a:picLocks noChangeAspect="1"/>
          </p:cNvPicPr>
          <p:nvPr/>
        </p:nvPicPr>
        <p:blipFill>
          <a:blip r:embed="rId1"/>
          <a:stretch>
            <a:fillRect/>
          </a:stretch>
        </p:blipFill>
        <p:spPr>
          <a:xfrm>
            <a:off x="7016191" y="1118311"/>
            <a:ext cx="1420978" cy="1420978"/>
          </a:xfrm>
          <a:prstGeom prst="rect">
            <a:avLst/>
          </a:prstGeom>
        </p:spPr>
      </p:pic>
      <p:sp>
        <p:nvSpPr>
          <p:cNvPr id="10" name="Shape 7"/>
          <p:cNvSpPr/>
          <p:nvPr/>
        </p:nvSpPr>
        <p:spPr>
          <a:xfrm>
            <a:off x="914400" y="3931920"/>
            <a:ext cx="1828800" cy="1828800"/>
          </a:xfrm>
          <a:prstGeom prst="ellipse">
            <a:avLst/>
          </a:prstGeom>
          <a:solidFill>
            <a:srgbClr val="DCEFD9"/>
          </a:solidFill>
          <a:ln/>
        </p:spPr>
      </p:sp>
      <p:pic>
        <p:nvPicPr>
          <p:cNvPr id="11" name="Image 1" descr="preencoded.png">    </p:cNvPr>
          <p:cNvPicPr>
            <a:picLocks noChangeAspect="1"/>
          </p:cNvPicPr>
          <p:nvPr/>
        </p:nvPicPr>
        <p:blipFill>
          <a:blip r:embed="rId2"/>
          <a:stretch>
            <a:fillRect/>
          </a:stretch>
        </p:blipFill>
        <p:spPr>
          <a:xfrm>
            <a:off x="1152144" y="4169664"/>
            <a:ext cx="1353312" cy="1353312"/>
          </a:xfrm>
          <a:prstGeom prst="rect">
            <a:avLst/>
          </a:prstGeom>
        </p:spPr>
      </p:pic>
      <p:sp>
        <p:nvSpPr>
          <p:cNvPr id="12" name="Shape 8"/>
          <p:cNvSpPr/>
          <p:nvPr/>
        </p:nvSpPr>
        <p:spPr>
          <a:xfrm>
            <a:off x="11414455" y="6080760"/>
            <a:ext cx="457200" cy="457200"/>
          </a:xfrm>
          <a:prstGeom prst="ellipse">
            <a:avLst/>
          </a:prstGeom>
          <a:solidFill>
            <a:srgbClr val="14432A"/>
          </a:solidFill>
          <a:ln/>
        </p:spPr>
      </p:sp>
      <p:pic>
        <p:nvPicPr>
          <p:cNvPr id="13" name="Image 2" descr="preencoded.png">    </p:cNvPr>
          <p:cNvPicPr>
            <a:picLocks noChangeAspect="1"/>
          </p:cNvPicPr>
          <p:nvPr/>
        </p:nvPicPr>
        <p:blipFill>
          <a:blip r:embed="rId3"/>
          <a:stretch>
            <a:fillRect/>
          </a:stretch>
        </p:blipFill>
        <p:spPr>
          <a:xfrm>
            <a:off x="11473891" y="6140196"/>
            <a:ext cx="338328" cy="3383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5212080" cy="2651760"/>
          </a:xfrm>
          <a:prstGeom prst="roundRect">
            <a:avLst>
              <a:gd name="adj" fmla="val 4138"/>
            </a:avLst>
          </a:prstGeom>
          <a:solidFill>
            <a:srgbClr val="14432A"/>
          </a:solidFill>
          <a:ln/>
        </p:spPr>
      </p:sp>
      <p:sp>
        <p:nvSpPr>
          <p:cNvPr id="3" name="Text 1"/>
          <p:cNvSpPr/>
          <p:nvPr/>
        </p:nvSpPr>
        <p:spPr>
          <a:xfrm>
            <a:off x="914400" y="777240"/>
            <a:ext cx="466344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6. Admin Management Module</a:t>
            </a:r>
            <a:endParaRPr lang="en-US" sz="1600" dirty="0"/>
          </a:p>
        </p:txBody>
      </p:sp>
      <p:sp>
        <p:nvSpPr>
          <p:cNvPr id="4" name="Text 2"/>
          <p:cNvSpPr/>
          <p:nvPr/>
        </p:nvSpPr>
        <p:spPr>
          <a:xfrm>
            <a:off x="914400" y="1280160"/>
            <a:ext cx="4663440" cy="1737360"/>
          </a:xfrm>
          <a:prstGeom prst="rect">
            <a:avLst/>
          </a:prstGeom>
          <a:noFill/>
          <a:ln/>
        </p:spPr>
        <p:txBody>
          <a:bodyPr wrap="square" rtlCol="0" anchor="t"/>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Admin login</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View all registered customers</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Delete customer accounts</a:t>
            </a:r>
            <a:endParaRPr lang="en-US" sz="1350" dirty="0"/>
          </a:p>
        </p:txBody>
      </p:sp>
      <p:sp>
        <p:nvSpPr>
          <p:cNvPr id="5" name="Shape 3"/>
          <p:cNvSpPr/>
          <p:nvPr/>
        </p:nvSpPr>
        <p:spPr>
          <a:xfrm>
            <a:off x="6126480" y="3383280"/>
            <a:ext cx="5394960" cy="2651760"/>
          </a:xfrm>
          <a:prstGeom prst="roundRect">
            <a:avLst>
              <a:gd name="adj" fmla="val 4138"/>
            </a:avLst>
          </a:prstGeom>
          <a:solidFill>
            <a:srgbClr val="2E8B57"/>
          </a:solidFill>
          <a:ln/>
        </p:spPr>
      </p:sp>
      <p:sp>
        <p:nvSpPr>
          <p:cNvPr id="6" name="Text 4"/>
          <p:cNvSpPr/>
          <p:nvPr/>
        </p:nvSpPr>
        <p:spPr>
          <a:xfrm>
            <a:off x="6400800" y="3611880"/>
            <a:ext cx="48463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7. Profile Management Module</a:t>
            </a:r>
            <a:endParaRPr lang="en-US" sz="1600" dirty="0"/>
          </a:p>
        </p:txBody>
      </p:sp>
      <p:sp>
        <p:nvSpPr>
          <p:cNvPr id="7" name="Text 5"/>
          <p:cNvSpPr/>
          <p:nvPr/>
        </p:nvSpPr>
        <p:spPr>
          <a:xfrm>
            <a:off x="6400800" y="4114800"/>
            <a:ext cx="4846320" cy="1828800"/>
          </a:xfrm>
          <a:prstGeom prst="rect">
            <a:avLst/>
          </a:prstGeom>
          <a:noFill/>
          <a:ln/>
        </p:spPr>
        <p:txBody>
          <a:bodyPr wrap="square" rtlCol="0" anchor="t"/>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View customer information</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View order history</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Maintain account details</a:t>
            </a:r>
            <a:endParaRPr lang="en-US" sz="1350" dirty="0"/>
          </a:p>
        </p:txBody>
      </p:sp>
      <p:sp>
        <p:nvSpPr>
          <p:cNvPr id="8" name="Shape 6"/>
          <p:cNvSpPr/>
          <p:nvPr/>
        </p:nvSpPr>
        <p:spPr>
          <a:xfrm>
            <a:off x="6675120" y="868680"/>
            <a:ext cx="1920240" cy="1920240"/>
          </a:xfrm>
          <a:prstGeom prst="ellipse">
            <a:avLst/>
          </a:prstGeom>
          <a:solidFill>
            <a:srgbClr val="DCEFD9"/>
          </a:solidFill>
          <a:ln/>
        </p:spPr>
      </p:sp>
      <p:pic>
        <p:nvPicPr>
          <p:cNvPr id="9" name="Image 0" descr="preencoded.png">    </p:cNvPr>
          <p:cNvPicPr>
            <a:picLocks noChangeAspect="1"/>
          </p:cNvPicPr>
          <p:nvPr/>
        </p:nvPicPr>
        <p:blipFill>
          <a:blip r:embed="rId1"/>
          <a:stretch>
            <a:fillRect/>
          </a:stretch>
        </p:blipFill>
        <p:spPr>
          <a:xfrm>
            <a:off x="6924751" y="1118311"/>
            <a:ext cx="1420978" cy="1420978"/>
          </a:xfrm>
          <a:prstGeom prst="rect">
            <a:avLst/>
          </a:prstGeom>
        </p:spPr>
      </p:pic>
      <p:sp>
        <p:nvSpPr>
          <p:cNvPr id="10" name="Shape 7"/>
          <p:cNvSpPr/>
          <p:nvPr/>
        </p:nvSpPr>
        <p:spPr>
          <a:xfrm>
            <a:off x="914400" y="3931920"/>
            <a:ext cx="1828800" cy="1828800"/>
          </a:xfrm>
          <a:prstGeom prst="ellipse">
            <a:avLst/>
          </a:prstGeom>
          <a:solidFill>
            <a:srgbClr val="DCEFD9"/>
          </a:solidFill>
          <a:ln/>
        </p:spPr>
      </p:sp>
      <p:pic>
        <p:nvPicPr>
          <p:cNvPr id="11" name="Image 1" descr="preencoded.png">    </p:cNvPr>
          <p:cNvPicPr>
            <a:picLocks noChangeAspect="1"/>
          </p:cNvPicPr>
          <p:nvPr/>
        </p:nvPicPr>
        <p:blipFill>
          <a:blip r:embed="rId2"/>
          <a:stretch>
            <a:fillRect/>
          </a:stretch>
        </p:blipFill>
        <p:spPr>
          <a:xfrm>
            <a:off x="1152144" y="4169664"/>
            <a:ext cx="1353312" cy="1353312"/>
          </a:xfrm>
          <a:prstGeom prst="rect">
            <a:avLst/>
          </a:prstGeom>
        </p:spPr>
      </p:pic>
      <p:sp>
        <p:nvSpPr>
          <p:cNvPr id="12" name="Shape 8"/>
          <p:cNvSpPr/>
          <p:nvPr/>
        </p:nvSpPr>
        <p:spPr>
          <a:xfrm>
            <a:off x="11414455" y="6080760"/>
            <a:ext cx="457200" cy="457200"/>
          </a:xfrm>
          <a:prstGeom prst="ellipse">
            <a:avLst/>
          </a:prstGeom>
          <a:solidFill>
            <a:srgbClr val="14432A"/>
          </a:solidFill>
          <a:ln/>
        </p:spPr>
      </p:sp>
      <p:pic>
        <p:nvPicPr>
          <p:cNvPr id="13" name="Image 2" descr="preencoded.png">    </p:cNvPr>
          <p:cNvPicPr>
            <a:picLocks noChangeAspect="1"/>
          </p:cNvPicPr>
          <p:nvPr/>
        </p:nvPicPr>
        <p:blipFill>
          <a:blip r:embed="rId3"/>
          <a:stretch>
            <a:fillRect/>
          </a:stretch>
        </p:blipFill>
        <p:spPr>
          <a:xfrm>
            <a:off x="11473891" y="6140196"/>
            <a:ext cx="338328" cy="3383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5394960" cy="2651760"/>
          </a:xfrm>
          <a:prstGeom prst="roundRect">
            <a:avLst>
              <a:gd name="adj" fmla="val 4138"/>
            </a:avLst>
          </a:prstGeom>
          <a:solidFill>
            <a:srgbClr val="14432A"/>
          </a:solidFill>
          <a:ln/>
        </p:spPr>
      </p:sp>
      <p:sp>
        <p:nvSpPr>
          <p:cNvPr id="3" name="Text 1"/>
          <p:cNvSpPr/>
          <p:nvPr/>
        </p:nvSpPr>
        <p:spPr>
          <a:xfrm>
            <a:off x="914400" y="777240"/>
            <a:ext cx="48463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8. Navigation &amp; Routing Module</a:t>
            </a:r>
            <a:endParaRPr lang="en-US" sz="1600" dirty="0"/>
          </a:p>
        </p:txBody>
      </p:sp>
      <p:sp>
        <p:nvSpPr>
          <p:cNvPr id="4" name="Text 2"/>
          <p:cNvSpPr/>
          <p:nvPr/>
        </p:nvSpPr>
        <p:spPr>
          <a:xfrm>
            <a:off x="914400" y="1280160"/>
            <a:ext cx="4846320" cy="1737360"/>
          </a:xfrm>
          <a:prstGeom prst="rect">
            <a:avLst/>
          </a:prstGeom>
          <a:noFill/>
          <a:ln/>
        </p:spPr>
        <p:txBody>
          <a:bodyPr wrap="square" rtlCol="0" anchor="t"/>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React Router DOM implementation</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Seamless page navigation</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Protected routes for logged-in users</a:t>
            </a:r>
            <a:endParaRPr lang="en-US" sz="1350" dirty="0"/>
          </a:p>
        </p:txBody>
      </p:sp>
      <p:sp>
        <p:nvSpPr>
          <p:cNvPr id="5" name="Shape 3"/>
          <p:cNvSpPr/>
          <p:nvPr/>
        </p:nvSpPr>
        <p:spPr>
          <a:xfrm>
            <a:off x="6309360" y="3383280"/>
            <a:ext cx="5212080" cy="2651760"/>
          </a:xfrm>
          <a:prstGeom prst="roundRect">
            <a:avLst>
              <a:gd name="adj" fmla="val 4138"/>
            </a:avLst>
          </a:prstGeom>
          <a:solidFill>
            <a:srgbClr val="2E8B57"/>
          </a:solidFill>
          <a:ln/>
        </p:spPr>
      </p:sp>
      <p:sp>
        <p:nvSpPr>
          <p:cNvPr id="6" name="Text 4"/>
          <p:cNvSpPr/>
          <p:nvPr/>
        </p:nvSpPr>
        <p:spPr>
          <a:xfrm>
            <a:off x="6583680" y="3611880"/>
            <a:ext cx="466344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9. State Management Module</a:t>
            </a:r>
            <a:endParaRPr lang="en-US" sz="1600" dirty="0"/>
          </a:p>
        </p:txBody>
      </p:sp>
      <p:sp>
        <p:nvSpPr>
          <p:cNvPr id="7" name="Text 5"/>
          <p:cNvSpPr/>
          <p:nvPr/>
        </p:nvSpPr>
        <p:spPr>
          <a:xfrm>
            <a:off x="6583680" y="4114800"/>
            <a:ext cx="4663440" cy="1828800"/>
          </a:xfrm>
          <a:prstGeom prst="rect">
            <a:avLst/>
          </a:prstGeom>
          <a:noFill/>
          <a:ln/>
        </p:spPr>
        <p:txBody>
          <a:bodyPr wrap="square" rtlCol="0" anchor="t"/>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React Hooks (useState, useEffect)</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Dynamic cart and order data handling</a:t>
            </a:r>
            <a:endParaRPr lang="en-US" sz="1350" dirty="0"/>
          </a:p>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Component communication</a:t>
            </a:r>
            <a:endParaRPr lang="en-US" sz="1350" dirty="0"/>
          </a:p>
        </p:txBody>
      </p:sp>
      <p:sp>
        <p:nvSpPr>
          <p:cNvPr id="8" name="Shape 6"/>
          <p:cNvSpPr/>
          <p:nvPr/>
        </p:nvSpPr>
        <p:spPr>
          <a:xfrm>
            <a:off x="6766560" y="868680"/>
            <a:ext cx="1920240" cy="1920240"/>
          </a:xfrm>
          <a:prstGeom prst="ellipse">
            <a:avLst/>
          </a:prstGeom>
          <a:solidFill>
            <a:srgbClr val="DCEFD9"/>
          </a:solidFill>
          <a:ln/>
        </p:spPr>
      </p:sp>
      <p:pic>
        <p:nvPicPr>
          <p:cNvPr id="9" name="Image 0" descr="preencoded.png">    </p:cNvPr>
          <p:cNvPicPr>
            <a:picLocks noChangeAspect="1"/>
          </p:cNvPicPr>
          <p:nvPr/>
        </p:nvPicPr>
        <p:blipFill>
          <a:blip r:embed="rId1"/>
          <a:stretch>
            <a:fillRect/>
          </a:stretch>
        </p:blipFill>
        <p:spPr>
          <a:xfrm>
            <a:off x="7016191" y="1118311"/>
            <a:ext cx="1420978" cy="1420978"/>
          </a:xfrm>
          <a:prstGeom prst="rect">
            <a:avLst/>
          </a:prstGeom>
        </p:spPr>
      </p:pic>
      <p:sp>
        <p:nvSpPr>
          <p:cNvPr id="10" name="Shape 7"/>
          <p:cNvSpPr/>
          <p:nvPr/>
        </p:nvSpPr>
        <p:spPr>
          <a:xfrm>
            <a:off x="914400" y="3931920"/>
            <a:ext cx="1828800" cy="1828800"/>
          </a:xfrm>
          <a:prstGeom prst="ellipse">
            <a:avLst/>
          </a:prstGeom>
          <a:solidFill>
            <a:srgbClr val="DCEFD9"/>
          </a:solidFill>
          <a:ln/>
        </p:spPr>
      </p:sp>
      <p:pic>
        <p:nvPicPr>
          <p:cNvPr id="11" name="Image 1" descr="preencoded.png">    </p:cNvPr>
          <p:cNvPicPr>
            <a:picLocks noChangeAspect="1"/>
          </p:cNvPicPr>
          <p:nvPr/>
        </p:nvPicPr>
        <p:blipFill>
          <a:blip r:embed="rId2"/>
          <a:stretch>
            <a:fillRect/>
          </a:stretch>
        </p:blipFill>
        <p:spPr>
          <a:xfrm>
            <a:off x="1152144" y="4169664"/>
            <a:ext cx="1353312" cy="1353312"/>
          </a:xfrm>
          <a:prstGeom prst="rect">
            <a:avLst/>
          </a:prstGeom>
        </p:spPr>
      </p:pic>
      <p:sp>
        <p:nvSpPr>
          <p:cNvPr id="12" name="Shape 8"/>
          <p:cNvSpPr/>
          <p:nvPr/>
        </p:nvSpPr>
        <p:spPr>
          <a:xfrm>
            <a:off x="11414455" y="6080760"/>
            <a:ext cx="457200" cy="457200"/>
          </a:xfrm>
          <a:prstGeom prst="ellipse">
            <a:avLst/>
          </a:prstGeom>
          <a:solidFill>
            <a:srgbClr val="14432A"/>
          </a:solidFill>
          <a:ln/>
        </p:spPr>
      </p:sp>
      <p:pic>
        <p:nvPicPr>
          <p:cNvPr id="13" name="Image 2" descr="preencoded.png">    </p:cNvPr>
          <p:cNvPicPr>
            <a:picLocks noChangeAspect="1"/>
          </p:cNvPicPr>
          <p:nvPr/>
        </p:nvPicPr>
        <p:blipFill>
          <a:blip r:embed="rId3"/>
          <a:stretch>
            <a:fillRect/>
          </a:stretch>
        </p:blipFill>
        <p:spPr>
          <a:xfrm>
            <a:off x="11473891" y="6140196"/>
            <a:ext cx="338328" cy="3383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6858000" cy="1463040"/>
          </a:xfrm>
          <a:prstGeom prst="rect">
            <a:avLst/>
          </a:prstGeom>
          <a:noFill/>
          <a:ln/>
        </p:spPr>
        <p:txBody>
          <a:bodyPr wrap="square" rtlCol="0" anchor="ctr"/>
          <a:lstStyle/>
          <a:p>
            <a:pPr indent="0" marL="0">
              <a:buNone/>
            </a:pPr>
            <a:r>
              <a:rPr lang="en-US" sz="3200" b="1" dirty="0">
                <a:solidFill>
                  <a:srgbClr val="14432A"/>
                </a:solidFill>
                <a:latin typeface="Cambria" pitchFamily="34" charset="0"/>
                <a:ea typeface="Cambria" pitchFamily="34" charset="-122"/>
                <a:cs typeface="Cambria" pitchFamily="34" charset="-120"/>
              </a:rPr>
              <a:t>10. Responsive User</a:t>
            </a:r>
            <a:endParaRPr lang="en-US" sz="3200" dirty="0"/>
          </a:p>
          <a:p>
            <a:pPr indent="0" marL="0">
              <a:buNone/>
            </a:pPr>
            <a:r>
              <a:rPr lang="en-US" sz="3200" b="1" dirty="0">
                <a:solidFill>
                  <a:srgbClr val="14432A"/>
                </a:solidFill>
                <a:latin typeface="Cambria" pitchFamily="34" charset="0"/>
                <a:ea typeface="Cambria" pitchFamily="34" charset="-122"/>
                <a:cs typeface="Cambria" pitchFamily="34" charset="-120"/>
              </a:rPr>
              <a:t>Interface Module</a:t>
            </a:r>
            <a:endParaRPr lang="en-US" sz="3200" dirty="0"/>
          </a:p>
        </p:txBody>
      </p:sp>
      <p:sp>
        <p:nvSpPr>
          <p:cNvPr id="3" name="Shape 1"/>
          <p:cNvSpPr/>
          <p:nvPr/>
        </p:nvSpPr>
        <p:spPr>
          <a:xfrm>
            <a:off x="640080" y="2377440"/>
            <a:ext cx="7315200" cy="3474720"/>
          </a:xfrm>
          <a:prstGeom prst="roundRect">
            <a:avLst>
              <a:gd name="adj" fmla="val 3158"/>
            </a:avLst>
          </a:prstGeom>
          <a:solidFill>
            <a:srgbClr val="2E8B57"/>
          </a:solidFill>
          <a:ln/>
        </p:spPr>
      </p:sp>
      <p:sp>
        <p:nvSpPr>
          <p:cNvPr id="4" name="Text 2"/>
          <p:cNvSpPr/>
          <p:nvPr/>
        </p:nvSpPr>
        <p:spPr>
          <a:xfrm>
            <a:off x="914400" y="2651760"/>
            <a:ext cx="6766560" cy="3017520"/>
          </a:xfrm>
          <a:prstGeom prst="rect">
            <a:avLst/>
          </a:prstGeom>
          <a:noFill/>
          <a:ln/>
        </p:spPr>
        <p:txBody>
          <a:bodyPr wrap="square" rtlCol="0" anchor="t"/>
          <a:lstStyle/>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Interactive user interface</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Reusable React components</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Responsive design using CSS (Home.css, Login.css)</a:t>
            </a:r>
            <a:endParaRPr lang="en-US" sz="1600" dirty="0"/>
          </a:p>
        </p:txBody>
      </p:sp>
      <p:sp>
        <p:nvSpPr>
          <p:cNvPr id="5" name="Shape 3"/>
          <p:cNvSpPr/>
          <p:nvPr/>
        </p:nvSpPr>
        <p:spPr>
          <a:xfrm>
            <a:off x="8595360" y="1280160"/>
            <a:ext cx="2743200" cy="2743200"/>
          </a:xfrm>
          <a:prstGeom prst="ellipse">
            <a:avLst/>
          </a:prstGeom>
          <a:solidFill>
            <a:srgbClr val="DCEFD9"/>
          </a:solidFill>
          <a:ln/>
        </p:spPr>
      </p:sp>
      <p:pic>
        <p:nvPicPr>
          <p:cNvPr id="6" name="Image 0" descr="preencoded.png">    </p:cNvPr>
          <p:cNvPicPr>
            <a:picLocks noChangeAspect="1"/>
          </p:cNvPicPr>
          <p:nvPr/>
        </p:nvPicPr>
        <p:blipFill>
          <a:blip r:embed="rId1"/>
          <a:stretch>
            <a:fillRect/>
          </a:stretch>
        </p:blipFill>
        <p:spPr>
          <a:xfrm>
            <a:off x="8951976" y="1636776"/>
            <a:ext cx="2029968" cy="2029968"/>
          </a:xfrm>
          <a:prstGeom prst="rect">
            <a:avLst/>
          </a:prstGeom>
        </p:spPr>
      </p:pic>
      <p:sp>
        <p:nvSpPr>
          <p:cNvPr id="7" name="Shape 4"/>
          <p:cNvSpPr/>
          <p:nvPr/>
        </p:nvSpPr>
        <p:spPr>
          <a:xfrm>
            <a:off x="11414455" y="6080760"/>
            <a:ext cx="457200" cy="457200"/>
          </a:xfrm>
          <a:prstGeom prst="ellipse">
            <a:avLst/>
          </a:prstGeom>
          <a:solidFill>
            <a:srgbClr val="14432A"/>
          </a:solidFill>
          <a:ln/>
        </p:spPr>
      </p:sp>
      <p:pic>
        <p:nvPicPr>
          <p:cNvPr id="8"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8229600" cy="822960"/>
          </a:xfrm>
          <a:prstGeom prst="rect">
            <a:avLst/>
          </a:prstGeom>
          <a:noFill/>
          <a:ln/>
        </p:spPr>
        <p:txBody>
          <a:bodyPr wrap="square" rtlCol="0" anchor="ctr"/>
          <a:lstStyle/>
          <a:p>
            <a:pPr indent="0" marL="0">
              <a:buNone/>
            </a:pPr>
            <a:r>
              <a:rPr lang="en-US" sz="3600" b="1" dirty="0">
                <a:solidFill>
                  <a:srgbClr val="14432A"/>
                </a:solidFill>
                <a:latin typeface="Cambria" pitchFamily="34" charset="0"/>
                <a:ea typeface="Cambria" pitchFamily="34" charset="-122"/>
                <a:cs typeface="Cambria" pitchFamily="34" charset="-120"/>
              </a:rPr>
              <a:t>System Architecture</a:t>
            </a:r>
            <a:endParaRPr lang="en-US" sz="3600" dirty="0"/>
          </a:p>
        </p:txBody>
      </p:sp>
      <p:sp>
        <p:nvSpPr>
          <p:cNvPr id="7" name="Shape 5"/>
          <p:cNvSpPr/>
          <p:nvPr/>
        </p:nvSpPr>
        <p:spPr>
          <a:xfrm>
            <a:off x="640080" y="1600200"/>
            <a:ext cx="7772400" cy="4663440"/>
          </a:xfrm>
          <a:prstGeom prst="roundRect">
            <a:avLst>
              <a:gd name="adj" fmla="val 2353"/>
            </a:avLst>
          </a:prstGeom>
          <a:solidFill>
            <a:srgbClr val="2E8B57"/>
          </a:solidFill>
          <a:ln/>
        </p:spPr>
      </p:sp>
      <p:sp>
        <p:nvSpPr>
          <p:cNvPr id="8" name="Text 6"/>
          <p:cNvSpPr/>
          <p:nvPr/>
        </p:nvSpPr>
        <p:spPr>
          <a:xfrm>
            <a:off x="914400" y="1828800"/>
            <a:ext cx="7223760" cy="4206240"/>
          </a:xfrm>
          <a:prstGeom prst="rect">
            <a:avLst/>
          </a:prstGeom>
          <a:noFill/>
          <a:ln/>
        </p:spPr>
        <p:txBody>
          <a:bodyPr wrap="square"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User interacts with the React Frontend.</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React Router manages page navigation.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Components handle UI rendering for each product category.</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React Hooks manage cart and application state.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Frontend calls the Express REST API for register, login, cart and orders.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Express backend reads/writes customer data to db.json.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Users perform shopping operations through the dashboard.</a:t>
            </a:r>
            <a:endParaRPr lang="en-US" sz="1400" dirty="0"/>
          </a:p>
        </p:txBody>
      </p:sp>
      <p:sp>
        <p:nvSpPr>
          <p:cNvPr id="9" name="Shape 7"/>
          <p:cNvSpPr/>
          <p:nvPr/>
        </p:nvSpPr>
        <p:spPr>
          <a:xfrm>
            <a:off x="8869680" y="2377440"/>
            <a:ext cx="2194560" cy="2194560"/>
          </a:xfrm>
          <a:prstGeom prst="ellipse">
            <a:avLst/>
          </a:prstGeom>
          <a:solidFill>
            <a:srgbClr val="DCEFD9"/>
          </a:solidFill>
          <a:ln/>
        </p:spPr>
      </p:sp>
      <p:pic>
        <p:nvPicPr>
          <p:cNvPr id="10" name="Image 0" descr="preencoded.png">    </p:cNvPr>
          <p:cNvPicPr>
            <a:picLocks noChangeAspect="1"/>
          </p:cNvPicPr>
          <p:nvPr/>
        </p:nvPicPr>
        <p:blipFill>
          <a:blip r:embed="rId1"/>
          <a:stretch>
            <a:fillRect/>
          </a:stretch>
        </p:blipFill>
        <p:spPr>
          <a:xfrm>
            <a:off x="9154973" y="2662733"/>
            <a:ext cx="1623974" cy="1623974"/>
          </a:xfrm>
          <a:prstGeom prst="rect">
            <a:avLst/>
          </a:prstGeom>
        </p:spPr>
      </p:pic>
      <p:sp>
        <p:nvSpPr>
          <p:cNvPr id="11" name="Shape 8"/>
          <p:cNvSpPr/>
          <p:nvPr/>
        </p:nvSpPr>
        <p:spPr>
          <a:xfrm>
            <a:off x="11414455" y="6080760"/>
            <a:ext cx="457200" cy="457200"/>
          </a:xfrm>
          <a:prstGeom prst="ellipse">
            <a:avLst/>
          </a:prstGeom>
          <a:solidFill>
            <a:srgbClr val="14432A"/>
          </a:solidFill>
          <a:ln/>
        </p:spPr>
      </p:sp>
      <p:pic>
        <p:nvPicPr>
          <p:cNvPr id="12"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822960"/>
          </a:xfrm>
          <a:prstGeom prst="rect">
            <a:avLst/>
          </a:prstGeom>
          <a:noFill/>
          <a:ln/>
        </p:spPr>
        <p:txBody>
          <a:bodyPr wrap="square" rtlCol="0" anchor="ctr"/>
          <a:lstStyle/>
          <a:p>
            <a:pPr indent="0" marL="0">
              <a:buNone/>
            </a:pPr>
            <a:r>
              <a:rPr lang="en-US" sz="3800" b="1" dirty="0">
                <a:solidFill>
                  <a:srgbClr val="2E8B57"/>
                </a:solidFill>
                <a:latin typeface="Cambria" pitchFamily="34" charset="0"/>
                <a:ea typeface="Cambria" pitchFamily="34" charset="-122"/>
                <a:cs typeface="Cambria" pitchFamily="34" charset="-120"/>
              </a:rPr>
              <a:t>Implementation</a:t>
            </a:r>
            <a:endParaRPr lang="en-US" sz="3800" dirty="0"/>
          </a:p>
        </p:txBody>
      </p:sp>
      <p:sp>
        <p:nvSpPr>
          <p:cNvPr id="3" name="Shape 1"/>
          <p:cNvSpPr/>
          <p:nvPr/>
        </p:nvSpPr>
        <p:spPr>
          <a:xfrm>
            <a:off x="640080" y="1463040"/>
            <a:ext cx="10881360" cy="4389120"/>
          </a:xfrm>
          <a:prstGeom prst="roundRect">
            <a:avLst>
              <a:gd name="adj" fmla="val 2500"/>
            </a:avLst>
          </a:prstGeom>
          <a:solidFill>
            <a:srgbClr val="14432A"/>
          </a:solidFill>
          <a:ln/>
        </p:spPr>
      </p:sp>
      <p:sp>
        <p:nvSpPr>
          <p:cNvPr id="4" name="Text 2"/>
          <p:cNvSpPr/>
          <p:nvPr/>
        </p:nvSpPr>
        <p:spPr>
          <a:xfrm>
            <a:off x="914400" y="1691640"/>
            <a:ext cx="10332720" cy="4023360"/>
          </a:xfrm>
          <a:prstGeom prst="rect">
            <a:avLst/>
          </a:prstGeom>
          <a:noFill/>
          <a:ln/>
        </p:spPr>
        <p:txBody>
          <a:bodyPr wrap="square" rtlCol="0" anchor="t"/>
          <a:lstStyle/>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Built using React component-based architecture.</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Implemented SPA (Single Page Application) routing.</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Used reusable components for each product category page.</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Applied React Hooks for cart and state management.</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Designed responsive and interactive user interfaces.</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Implemented an Express + JSON backend for customers, carts and orders.</a:t>
            </a:r>
            <a:endParaRPr lang="en-US" sz="1450" dirty="0"/>
          </a:p>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Implemented protected/admin routes for authenticated access.</a:t>
            </a:r>
            <a:endParaRPr lang="en-US" sz="1450" dirty="0"/>
          </a:p>
        </p:txBody>
      </p:sp>
      <p:sp>
        <p:nvSpPr>
          <p:cNvPr id="5" name="Shape 3"/>
          <p:cNvSpPr/>
          <p:nvPr/>
        </p:nvSpPr>
        <p:spPr>
          <a:xfrm>
            <a:off x="11414455" y="6080760"/>
            <a:ext cx="457200" cy="457200"/>
          </a:xfrm>
          <a:prstGeom prst="ellipse">
            <a:avLst/>
          </a:prstGeom>
          <a:solidFill>
            <a:srgbClr val="14432A"/>
          </a:solidFill>
          <a:ln/>
        </p:spPr>
      </p:sp>
      <p:pic>
        <p:nvPicPr>
          <p:cNvPr id="6" name="Image 0" descr="preencoded.png">    </p:cNvPr>
          <p:cNvPicPr>
            <a:picLocks noChangeAspect="1"/>
          </p:cNvPicPr>
          <p:nvPr/>
        </p:nvPicPr>
        <p:blipFill>
          <a:blip r:embed="rId1"/>
          <a:stretch>
            <a:fillRect/>
          </a:stretch>
        </p:blipFill>
        <p:spPr>
          <a:xfrm>
            <a:off x="11473891" y="6140196"/>
            <a:ext cx="338328" cy="33832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10515600" cy="640080"/>
          </a:xfrm>
          <a:prstGeom prst="rect">
            <a:avLst/>
          </a:prstGeom>
          <a:noFill/>
          <a:ln/>
        </p:spPr>
        <p:txBody>
          <a:bodyPr wrap="square" rtlCol="0" anchor="ctr"/>
          <a:lstStyle/>
          <a:p>
            <a:pPr indent="0" marL="0">
              <a:buNone/>
            </a:pPr>
            <a:r>
              <a:rPr lang="en-US" sz="2600" b="1" dirty="0">
                <a:solidFill>
                  <a:srgbClr val="14432A"/>
                </a:solidFill>
                <a:latin typeface="Cambria" pitchFamily="34" charset="0"/>
                <a:ea typeface="Cambria" pitchFamily="34" charset="-122"/>
                <a:cs typeface="Cambria" pitchFamily="34" charset="-120"/>
              </a:rPr>
              <a:t>CO1 – Understand React Fundamentals</a:t>
            </a:r>
            <a:endParaRPr lang="en-US" sz="2600" dirty="0"/>
          </a:p>
        </p:txBody>
      </p:sp>
      <p:sp>
        <p:nvSpPr>
          <p:cNvPr id="7" name="Shape 5"/>
          <p:cNvSpPr/>
          <p:nvPr/>
        </p:nvSpPr>
        <p:spPr>
          <a:xfrm>
            <a:off x="640080" y="1463040"/>
            <a:ext cx="7589520" cy="4754880"/>
          </a:xfrm>
          <a:prstGeom prst="roundRect">
            <a:avLst>
              <a:gd name="adj" fmla="val 2308"/>
            </a:avLst>
          </a:prstGeom>
          <a:solidFill>
            <a:srgbClr val="2E8B57"/>
          </a:solidFill>
          <a:ln/>
        </p:spPr>
      </p:sp>
      <p:sp>
        <p:nvSpPr>
          <p:cNvPr id="8" name="Text 6"/>
          <p:cNvSpPr/>
          <p:nvPr/>
        </p:nvSpPr>
        <p:spPr>
          <a:xfrm>
            <a:off x="914400" y="169164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Where Used:</a:t>
            </a:r>
            <a:endParaRPr lang="en-US" sz="1500" dirty="0"/>
          </a:p>
        </p:txBody>
      </p:sp>
      <p:sp>
        <p:nvSpPr>
          <p:cNvPr id="9" name="Text 7"/>
          <p:cNvSpPr/>
          <p:nvPr/>
        </p:nvSpPr>
        <p:spPr>
          <a:xfrm>
            <a:off x="914400" y="2103120"/>
            <a:ext cx="6949440" cy="128016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React Components (Login, Register, Home, Phones, Laptops, Cart)</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JSX for UI creation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Component-based architecture</a:t>
            </a:r>
            <a:endParaRPr lang="en-US" sz="1300" dirty="0"/>
          </a:p>
        </p:txBody>
      </p:sp>
      <p:sp>
        <p:nvSpPr>
          <p:cNvPr id="10" name="Text 8"/>
          <p:cNvSpPr/>
          <p:nvPr/>
        </p:nvSpPr>
        <p:spPr>
          <a:xfrm>
            <a:off x="914400" y="361188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Implementation:</a:t>
            </a:r>
            <a:endParaRPr lang="en-US" sz="1500" dirty="0"/>
          </a:p>
        </p:txBody>
      </p:sp>
      <p:sp>
        <p:nvSpPr>
          <p:cNvPr id="11" name="Text 9"/>
          <p:cNvSpPr/>
          <p:nvPr/>
        </p:nvSpPr>
        <p:spPr>
          <a:xfrm>
            <a:off x="914400" y="4023360"/>
            <a:ext cx="6949440" cy="91440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Each page is developed as a separate React component.</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Components are reused throughout the application.</a:t>
            </a:r>
            <a:endParaRPr lang="en-US" sz="1300" dirty="0"/>
          </a:p>
        </p:txBody>
      </p:sp>
      <p:sp>
        <p:nvSpPr>
          <p:cNvPr id="12" name="Text 10"/>
          <p:cNvSpPr/>
          <p:nvPr/>
        </p:nvSpPr>
        <p:spPr>
          <a:xfrm>
            <a:off x="914400" y="5166360"/>
            <a:ext cx="6949440" cy="45720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Used in: Login.jsx, Register.jsx, Home.jsx, Phones.jsx, Cart.jsx</a:t>
            </a:r>
            <a:endParaRPr lang="en-US" sz="1300" dirty="0"/>
          </a:p>
        </p:txBody>
      </p:sp>
      <p:sp>
        <p:nvSpPr>
          <p:cNvPr id="13" name="Shape 11"/>
          <p:cNvSpPr/>
          <p:nvPr/>
        </p:nvSpPr>
        <p:spPr>
          <a:xfrm>
            <a:off x="8686800" y="2377440"/>
            <a:ext cx="2377440" cy="2377440"/>
          </a:xfrm>
          <a:prstGeom prst="ellipse">
            <a:avLst/>
          </a:prstGeom>
          <a:solidFill>
            <a:srgbClr val="DCEFD9"/>
          </a:solidFill>
          <a:ln/>
        </p:spPr>
      </p:sp>
      <p:pic>
        <p:nvPicPr>
          <p:cNvPr id="14" name="Image 0" descr="preencoded.png">    </p:cNvPr>
          <p:cNvPicPr>
            <a:picLocks noChangeAspect="1"/>
          </p:cNvPicPr>
          <p:nvPr/>
        </p:nvPicPr>
        <p:blipFill>
          <a:blip r:embed="rId1"/>
          <a:stretch>
            <a:fillRect/>
          </a:stretch>
        </p:blipFill>
        <p:spPr>
          <a:xfrm>
            <a:off x="8995867" y="2686507"/>
            <a:ext cx="1759306" cy="1759306"/>
          </a:xfrm>
          <a:prstGeom prst="rect">
            <a:avLst/>
          </a:prstGeom>
        </p:spPr>
      </p:pic>
      <p:sp>
        <p:nvSpPr>
          <p:cNvPr id="15" name="Shape 12"/>
          <p:cNvSpPr/>
          <p:nvPr/>
        </p:nvSpPr>
        <p:spPr>
          <a:xfrm>
            <a:off x="11414455" y="6080760"/>
            <a:ext cx="457200" cy="457200"/>
          </a:xfrm>
          <a:prstGeom prst="ellipse">
            <a:avLst/>
          </a:prstGeom>
          <a:solidFill>
            <a:srgbClr val="14432A"/>
          </a:solidFill>
          <a:ln/>
        </p:spPr>
      </p:sp>
      <p:pic>
        <p:nvPicPr>
          <p:cNvPr id="16"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10515600" cy="640080"/>
          </a:xfrm>
          <a:prstGeom prst="rect">
            <a:avLst/>
          </a:prstGeom>
          <a:noFill/>
          <a:ln/>
        </p:spPr>
        <p:txBody>
          <a:bodyPr wrap="square" rtlCol="0" anchor="ctr"/>
          <a:lstStyle/>
          <a:p>
            <a:pPr indent="0" marL="0">
              <a:buNone/>
            </a:pPr>
            <a:r>
              <a:rPr lang="en-US" sz="2600" b="1" dirty="0">
                <a:solidFill>
                  <a:srgbClr val="14432A"/>
                </a:solidFill>
                <a:latin typeface="Cambria" pitchFamily="34" charset="0"/>
                <a:ea typeface="Cambria" pitchFamily="34" charset="-122"/>
                <a:cs typeface="Cambria" pitchFamily="34" charset="-120"/>
              </a:rPr>
              <a:t>CO2 – Apply JavaScript and ES6 Features</a:t>
            </a:r>
            <a:endParaRPr lang="en-US" sz="2600" dirty="0"/>
          </a:p>
        </p:txBody>
      </p:sp>
      <p:sp>
        <p:nvSpPr>
          <p:cNvPr id="7" name="Shape 5"/>
          <p:cNvSpPr/>
          <p:nvPr/>
        </p:nvSpPr>
        <p:spPr>
          <a:xfrm>
            <a:off x="640080" y="1463040"/>
            <a:ext cx="7589520" cy="4754880"/>
          </a:xfrm>
          <a:prstGeom prst="roundRect">
            <a:avLst>
              <a:gd name="adj" fmla="val 2308"/>
            </a:avLst>
          </a:prstGeom>
          <a:solidFill>
            <a:srgbClr val="2E8B57"/>
          </a:solidFill>
          <a:ln/>
        </p:spPr>
      </p:sp>
      <p:sp>
        <p:nvSpPr>
          <p:cNvPr id="8" name="Text 6"/>
          <p:cNvSpPr/>
          <p:nvPr/>
        </p:nvSpPr>
        <p:spPr>
          <a:xfrm>
            <a:off x="914400" y="169164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Where Used:</a:t>
            </a:r>
            <a:endParaRPr lang="en-US" sz="1500" dirty="0"/>
          </a:p>
        </p:txBody>
      </p:sp>
      <p:sp>
        <p:nvSpPr>
          <p:cNvPr id="9" name="Text 7"/>
          <p:cNvSpPr/>
          <p:nvPr/>
        </p:nvSpPr>
        <p:spPr>
          <a:xfrm>
            <a:off x="914400" y="2103120"/>
            <a:ext cx="6949440" cy="164592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Event Handling</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Arrow Functions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Import/Export Modules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Array Operations</a:t>
            </a:r>
            <a:endParaRPr lang="en-US" sz="1300" dirty="0"/>
          </a:p>
        </p:txBody>
      </p:sp>
      <p:sp>
        <p:nvSpPr>
          <p:cNvPr id="10" name="Text 8"/>
          <p:cNvSpPr/>
          <p:nvPr/>
        </p:nvSpPr>
        <p:spPr>
          <a:xfrm>
            <a:off x="914400" y="397764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Implementation:</a:t>
            </a:r>
            <a:endParaRPr lang="en-US" sz="1500" dirty="0"/>
          </a:p>
        </p:txBody>
      </p:sp>
      <p:sp>
        <p:nvSpPr>
          <p:cNvPr id="11" name="Text 9"/>
          <p:cNvSpPr/>
          <p:nvPr/>
        </p:nvSpPr>
        <p:spPr>
          <a:xfrm>
            <a:off x="914400" y="4389120"/>
            <a:ext cx="6949440" cy="128016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Form submission handling (register/login/checkout)</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Button click events (add to cart, place order)</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Dynamic rendering of products and cart items</a:t>
            </a:r>
            <a:endParaRPr lang="en-US" sz="1300" dirty="0"/>
          </a:p>
        </p:txBody>
      </p:sp>
      <p:sp>
        <p:nvSpPr>
          <p:cNvPr id="12" name="Text 10"/>
          <p:cNvSpPr/>
          <p:nvPr/>
        </p:nvSpPr>
        <p:spPr>
          <a:xfrm>
            <a:off x="914400" y="5897880"/>
            <a:ext cx="6949440" cy="45720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Used in: const handleSubmit = () =&gt; {}   |   const [cart, setCart] = useState([])</a:t>
            </a:r>
            <a:endParaRPr lang="en-US" sz="1300" dirty="0"/>
          </a:p>
        </p:txBody>
      </p:sp>
      <p:sp>
        <p:nvSpPr>
          <p:cNvPr id="13" name="Shape 11"/>
          <p:cNvSpPr/>
          <p:nvPr/>
        </p:nvSpPr>
        <p:spPr>
          <a:xfrm>
            <a:off x="8686800" y="2377440"/>
            <a:ext cx="2377440" cy="2377440"/>
          </a:xfrm>
          <a:prstGeom prst="ellipse">
            <a:avLst/>
          </a:prstGeom>
          <a:solidFill>
            <a:srgbClr val="DCEFD9"/>
          </a:solidFill>
          <a:ln/>
        </p:spPr>
      </p:sp>
      <p:pic>
        <p:nvPicPr>
          <p:cNvPr id="14" name="Image 0" descr="preencoded.png">    </p:cNvPr>
          <p:cNvPicPr>
            <a:picLocks noChangeAspect="1"/>
          </p:cNvPicPr>
          <p:nvPr/>
        </p:nvPicPr>
        <p:blipFill>
          <a:blip r:embed="rId1"/>
          <a:stretch>
            <a:fillRect/>
          </a:stretch>
        </p:blipFill>
        <p:spPr>
          <a:xfrm>
            <a:off x="8995867" y="2686507"/>
            <a:ext cx="1759306" cy="1759306"/>
          </a:xfrm>
          <a:prstGeom prst="rect">
            <a:avLst/>
          </a:prstGeom>
        </p:spPr>
      </p:pic>
      <p:sp>
        <p:nvSpPr>
          <p:cNvPr id="15" name="Shape 12"/>
          <p:cNvSpPr/>
          <p:nvPr/>
        </p:nvSpPr>
        <p:spPr>
          <a:xfrm>
            <a:off x="11414455" y="6080760"/>
            <a:ext cx="457200" cy="457200"/>
          </a:xfrm>
          <a:prstGeom prst="ellipse">
            <a:avLst/>
          </a:prstGeom>
          <a:solidFill>
            <a:srgbClr val="14432A"/>
          </a:solidFill>
          <a:ln/>
        </p:spPr>
      </p:sp>
      <p:pic>
        <p:nvPicPr>
          <p:cNvPr id="16"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10515600" cy="640080"/>
          </a:xfrm>
          <a:prstGeom prst="rect">
            <a:avLst/>
          </a:prstGeom>
          <a:noFill/>
          <a:ln/>
        </p:spPr>
        <p:txBody>
          <a:bodyPr wrap="square" rtlCol="0" anchor="ctr"/>
          <a:lstStyle/>
          <a:p>
            <a:pPr indent="0" marL="0">
              <a:buNone/>
            </a:pPr>
            <a:r>
              <a:rPr lang="en-US" sz="2600" b="1" dirty="0">
                <a:solidFill>
                  <a:srgbClr val="14432A"/>
                </a:solidFill>
                <a:latin typeface="Cambria" pitchFamily="34" charset="0"/>
                <a:ea typeface="Cambria" pitchFamily="34" charset="-122"/>
                <a:cs typeface="Cambria" pitchFamily="34" charset="-120"/>
              </a:rPr>
              <a:t>CO3 – Manage Data Using Props and State</a:t>
            </a:r>
            <a:endParaRPr lang="en-US" sz="2600" dirty="0"/>
          </a:p>
        </p:txBody>
      </p:sp>
      <p:sp>
        <p:nvSpPr>
          <p:cNvPr id="7" name="Shape 5"/>
          <p:cNvSpPr/>
          <p:nvPr/>
        </p:nvSpPr>
        <p:spPr>
          <a:xfrm>
            <a:off x="640080" y="1463040"/>
            <a:ext cx="7589520" cy="4754880"/>
          </a:xfrm>
          <a:prstGeom prst="roundRect">
            <a:avLst>
              <a:gd name="adj" fmla="val 2308"/>
            </a:avLst>
          </a:prstGeom>
          <a:solidFill>
            <a:srgbClr val="2E8B57"/>
          </a:solidFill>
          <a:ln/>
        </p:spPr>
      </p:sp>
      <p:sp>
        <p:nvSpPr>
          <p:cNvPr id="8" name="Text 6"/>
          <p:cNvSpPr/>
          <p:nvPr/>
        </p:nvSpPr>
        <p:spPr>
          <a:xfrm>
            <a:off x="914400" y="169164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Where Used:</a:t>
            </a:r>
            <a:endParaRPr lang="en-US" sz="1500" dirty="0"/>
          </a:p>
        </p:txBody>
      </p:sp>
      <p:sp>
        <p:nvSpPr>
          <p:cNvPr id="9" name="Text 7"/>
          <p:cNvSpPr/>
          <p:nvPr/>
        </p:nvSpPr>
        <p:spPr>
          <a:xfrm>
            <a:off x="914400" y="2103120"/>
            <a:ext cx="6949440" cy="128016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Passing data between components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Form inputs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Customer information management</a:t>
            </a:r>
            <a:endParaRPr lang="en-US" sz="1300" dirty="0"/>
          </a:p>
        </p:txBody>
      </p:sp>
      <p:sp>
        <p:nvSpPr>
          <p:cNvPr id="10" name="Text 8"/>
          <p:cNvSpPr/>
          <p:nvPr/>
        </p:nvSpPr>
        <p:spPr>
          <a:xfrm>
            <a:off x="914400" y="361188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Implementation:</a:t>
            </a:r>
            <a:endParaRPr lang="en-US" sz="1500" dirty="0"/>
          </a:p>
        </p:txBody>
      </p:sp>
      <p:sp>
        <p:nvSpPr>
          <p:cNvPr id="11" name="Text 9"/>
          <p:cNvSpPr/>
          <p:nvPr/>
        </p:nvSpPr>
        <p:spPr>
          <a:xfrm>
            <a:off x="914400" y="4023360"/>
            <a:ext cx="6949440" cy="91440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React useState Hook</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Props communication between parent and child components</a:t>
            </a:r>
            <a:endParaRPr lang="en-US" sz="1300" dirty="0"/>
          </a:p>
        </p:txBody>
      </p:sp>
      <p:sp>
        <p:nvSpPr>
          <p:cNvPr id="12" name="Text 10"/>
          <p:cNvSpPr/>
          <p:nvPr/>
        </p:nvSpPr>
        <p:spPr>
          <a:xfrm>
            <a:off x="914400" y="5166360"/>
            <a:ext cx="6949440" cy="45720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Used in: Login Form, Registration Form, Cart Page</a:t>
            </a:r>
            <a:endParaRPr lang="en-US" sz="1300" dirty="0"/>
          </a:p>
        </p:txBody>
      </p:sp>
      <p:sp>
        <p:nvSpPr>
          <p:cNvPr id="13" name="Shape 11"/>
          <p:cNvSpPr/>
          <p:nvPr/>
        </p:nvSpPr>
        <p:spPr>
          <a:xfrm>
            <a:off x="8686800" y="2377440"/>
            <a:ext cx="2377440" cy="2377440"/>
          </a:xfrm>
          <a:prstGeom prst="ellipse">
            <a:avLst/>
          </a:prstGeom>
          <a:solidFill>
            <a:srgbClr val="DCEFD9"/>
          </a:solidFill>
          <a:ln/>
        </p:spPr>
      </p:sp>
      <p:pic>
        <p:nvPicPr>
          <p:cNvPr id="14" name="Image 0" descr="preencoded.png">    </p:cNvPr>
          <p:cNvPicPr>
            <a:picLocks noChangeAspect="1"/>
          </p:cNvPicPr>
          <p:nvPr/>
        </p:nvPicPr>
        <p:blipFill>
          <a:blip r:embed="rId1"/>
          <a:stretch>
            <a:fillRect/>
          </a:stretch>
        </p:blipFill>
        <p:spPr>
          <a:xfrm>
            <a:off x="8995867" y="2686507"/>
            <a:ext cx="1759306" cy="1759306"/>
          </a:xfrm>
          <a:prstGeom prst="rect">
            <a:avLst/>
          </a:prstGeom>
        </p:spPr>
      </p:pic>
      <p:sp>
        <p:nvSpPr>
          <p:cNvPr id="15" name="Shape 12"/>
          <p:cNvSpPr/>
          <p:nvPr/>
        </p:nvSpPr>
        <p:spPr>
          <a:xfrm>
            <a:off x="11414455" y="6080760"/>
            <a:ext cx="457200" cy="457200"/>
          </a:xfrm>
          <a:prstGeom prst="ellipse">
            <a:avLst/>
          </a:prstGeom>
          <a:solidFill>
            <a:srgbClr val="14432A"/>
          </a:solidFill>
          <a:ln/>
        </p:spPr>
      </p:sp>
      <p:pic>
        <p:nvPicPr>
          <p:cNvPr id="16"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10515600" cy="640080"/>
          </a:xfrm>
          <a:prstGeom prst="rect">
            <a:avLst/>
          </a:prstGeom>
          <a:noFill/>
          <a:ln/>
        </p:spPr>
        <p:txBody>
          <a:bodyPr wrap="square" rtlCol="0" anchor="ctr"/>
          <a:lstStyle/>
          <a:p>
            <a:pPr indent="0" marL="0">
              <a:buNone/>
            </a:pPr>
            <a:r>
              <a:rPr lang="en-US" sz="2600" b="1" dirty="0">
                <a:solidFill>
                  <a:srgbClr val="14432A"/>
                </a:solidFill>
                <a:latin typeface="Cambria" pitchFamily="34" charset="0"/>
                <a:ea typeface="Cambria" pitchFamily="34" charset="-122"/>
                <a:cs typeface="Cambria" pitchFamily="34" charset="-120"/>
              </a:rPr>
              <a:t>CO4 – Implement React Hooks and Lifecycle Features</a:t>
            </a:r>
            <a:endParaRPr lang="en-US" sz="2600" dirty="0"/>
          </a:p>
        </p:txBody>
      </p:sp>
      <p:sp>
        <p:nvSpPr>
          <p:cNvPr id="7" name="Shape 5"/>
          <p:cNvSpPr/>
          <p:nvPr/>
        </p:nvSpPr>
        <p:spPr>
          <a:xfrm>
            <a:off x="640080" y="1463040"/>
            <a:ext cx="7589520" cy="4754880"/>
          </a:xfrm>
          <a:prstGeom prst="roundRect">
            <a:avLst>
              <a:gd name="adj" fmla="val 2308"/>
            </a:avLst>
          </a:prstGeom>
          <a:solidFill>
            <a:srgbClr val="2E8B57"/>
          </a:solidFill>
          <a:ln/>
        </p:spPr>
      </p:sp>
      <p:sp>
        <p:nvSpPr>
          <p:cNvPr id="8" name="Text 6"/>
          <p:cNvSpPr/>
          <p:nvPr/>
        </p:nvSpPr>
        <p:spPr>
          <a:xfrm>
            <a:off x="914400" y="169164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Where Used:</a:t>
            </a:r>
            <a:endParaRPr lang="en-US" sz="1500" dirty="0"/>
          </a:p>
        </p:txBody>
      </p:sp>
      <p:sp>
        <p:nvSpPr>
          <p:cNvPr id="9" name="Text 7"/>
          <p:cNvSpPr/>
          <p:nvPr/>
        </p:nvSpPr>
        <p:spPr>
          <a:xfrm>
            <a:off x="914400" y="2103120"/>
            <a:ext cx="6949440" cy="128016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Data loading</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Component updates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Dynamic content rendering</a:t>
            </a:r>
            <a:endParaRPr lang="en-US" sz="1300" dirty="0"/>
          </a:p>
        </p:txBody>
      </p:sp>
      <p:sp>
        <p:nvSpPr>
          <p:cNvPr id="10" name="Text 8"/>
          <p:cNvSpPr/>
          <p:nvPr/>
        </p:nvSpPr>
        <p:spPr>
          <a:xfrm>
            <a:off x="914400" y="361188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Implementation:</a:t>
            </a:r>
            <a:endParaRPr lang="en-US" sz="1500" dirty="0"/>
          </a:p>
        </p:txBody>
      </p:sp>
      <p:sp>
        <p:nvSpPr>
          <p:cNvPr id="11" name="Text 9"/>
          <p:cNvSpPr/>
          <p:nvPr/>
        </p:nvSpPr>
        <p:spPr>
          <a:xfrm>
            <a:off x="914400" y="4023360"/>
            <a:ext cx="6949440" cy="91440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useState Hook</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useEffect Hook (fetching products, profile and cart data)</a:t>
            </a:r>
            <a:endParaRPr lang="en-US" sz="1300" dirty="0"/>
          </a:p>
        </p:txBody>
      </p:sp>
      <p:sp>
        <p:nvSpPr>
          <p:cNvPr id="12" name="Text 10"/>
          <p:cNvSpPr/>
          <p:nvPr/>
        </p:nvSpPr>
        <p:spPr>
          <a:xfrm>
            <a:off x="914400" y="5166360"/>
            <a:ext cx="6949440" cy="45720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Used in: Home, Product Category Pages, Cart, Profile</a:t>
            </a:r>
            <a:endParaRPr lang="en-US" sz="1300" dirty="0"/>
          </a:p>
        </p:txBody>
      </p:sp>
      <p:sp>
        <p:nvSpPr>
          <p:cNvPr id="13" name="Shape 11"/>
          <p:cNvSpPr/>
          <p:nvPr/>
        </p:nvSpPr>
        <p:spPr>
          <a:xfrm>
            <a:off x="8686800" y="2377440"/>
            <a:ext cx="2377440" cy="2377440"/>
          </a:xfrm>
          <a:prstGeom prst="ellipse">
            <a:avLst/>
          </a:prstGeom>
          <a:solidFill>
            <a:srgbClr val="DCEFD9"/>
          </a:solidFill>
          <a:ln/>
        </p:spPr>
      </p:sp>
      <p:pic>
        <p:nvPicPr>
          <p:cNvPr id="14" name="Image 0" descr="preencoded.png">    </p:cNvPr>
          <p:cNvPicPr>
            <a:picLocks noChangeAspect="1"/>
          </p:cNvPicPr>
          <p:nvPr/>
        </p:nvPicPr>
        <p:blipFill>
          <a:blip r:embed="rId1"/>
          <a:stretch>
            <a:fillRect/>
          </a:stretch>
        </p:blipFill>
        <p:spPr>
          <a:xfrm>
            <a:off x="8995867" y="2686507"/>
            <a:ext cx="1759306" cy="1759306"/>
          </a:xfrm>
          <a:prstGeom prst="rect">
            <a:avLst/>
          </a:prstGeom>
        </p:spPr>
      </p:pic>
      <p:sp>
        <p:nvSpPr>
          <p:cNvPr id="15" name="Shape 12"/>
          <p:cNvSpPr/>
          <p:nvPr/>
        </p:nvSpPr>
        <p:spPr>
          <a:xfrm>
            <a:off x="11414455" y="6080760"/>
            <a:ext cx="457200" cy="457200"/>
          </a:xfrm>
          <a:prstGeom prst="ellipse">
            <a:avLst/>
          </a:prstGeom>
          <a:solidFill>
            <a:srgbClr val="14432A"/>
          </a:solidFill>
          <a:ln/>
        </p:spPr>
      </p:sp>
      <p:pic>
        <p:nvPicPr>
          <p:cNvPr id="16"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10515600" cy="640080"/>
          </a:xfrm>
          <a:prstGeom prst="rect">
            <a:avLst/>
          </a:prstGeom>
          <a:noFill/>
          <a:ln/>
        </p:spPr>
        <p:txBody>
          <a:bodyPr wrap="square" rtlCol="0" anchor="ctr"/>
          <a:lstStyle/>
          <a:p>
            <a:pPr indent="0" marL="0">
              <a:buNone/>
            </a:pPr>
            <a:r>
              <a:rPr lang="en-US" sz="2600" b="1" dirty="0">
                <a:solidFill>
                  <a:srgbClr val="14432A"/>
                </a:solidFill>
                <a:latin typeface="Cambria" pitchFamily="34" charset="0"/>
                <a:ea typeface="Cambria" pitchFamily="34" charset="-122"/>
                <a:cs typeface="Cambria" pitchFamily="34" charset="-120"/>
              </a:rPr>
              <a:t>CO5 – Develop Single Page Applications Using Routing</a:t>
            </a:r>
            <a:endParaRPr lang="en-US" sz="2600" dirty="0"/>
          </a:p>
        </p:txBody>
      </p:sp>
      <p:sp>
        <p:nvSpPr>
          <p:cNvPr id="7" name="Shape 5"/>
          <p:cNvSpPr/>
          <p:nvPr/>
        </p:nvSpPr>
        <p:spPr>
          <a:xfrm>
            <a:off x="640080" y="1463040"/>
            <a:ext cx="7589520" cy="4754880"/>
          </a:xfrm>
          <a:prstGeom prst="roundRect">
            <a:avLst>
              <a:gd name="adj" fmla="val 2308"/>
            </a:avLst>
          </a:prstGeom>
          <a:solidFill>
            <a:srgbClr val="2E8B57"/>
          </a:solidFill>
          <a:ln/>
        </p:spPr>
      </p:sp>
      <p:sp>
        <p:nvSpPr>
          <p:cNvPr id="8" name="Text 6"/>
          <p:cNvSpPr/>
          <p:nvPr/>
        </p:nvSpPr>
        <p:spPr>
          <a:xfrm>
            <a:off x="914400" y="169164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Where Used:</a:t>
            </a:r>
            <a:endParaRPr lang="en-US" sz="1500" dirty="0"/>
          </a:p>
        </p:txBody>
      </p:sp>
      <p:sp>
        <p:nvSpPr>
          <p:cNvPr id="9" name="Text 7"/>
          <p:cNvSpPr/>
          <p:nvPr/>
        </p:nvSpPr>
        <p:spPr>
          <a:xfrm>
            <a:off x="914400" y="2103120"/>
            <a:ext cx="6949440" cy="128016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Navigation between pages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Protected/admin routes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Multi-page application structure</a:t>
            </a:r>
            <a:endParaRPr lang="en-US" sz="1300" dirty="0"/>
          </a:p>
        </p:txBody>
      </p:sp>
      <p:sp>
        <p:nvSpPr>
          <p:cNvPr id="10" name="Text 8"/>
          <p:cNvSpPr/>
          <p:nvPr/>
        </p:nvSpPr>
        <p:spPr>
          <a:xfrm>
            <a:off x="914400" y="361188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Implementation:</a:t>
            </a:r>
            <a:endParaRPr lang="en-US" sz="1500" dirty="0"/>
          </a:p>
        </p:txBody>
      </p:sp>
      <p:sp>
        <p:nvSpPr>
          <p:cNvPr id="11" name="Text 9"/>
          <p:cNvSpPr/>
          <p:nvPr/>
        </p:nvSpPr>
        <p:spPr>
          <a:xfrm>
            <a:off x="914400" y="4023360"/>
            <a:ext cx="6949440" cy="128016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React Router DOM</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BrowserRouter</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Routes and Route Components</a:t>
            </a:r>
            <a:endParaRPr lang="en-US" sz="1300" dirty="0"/>
          </a:p>
        </p:txBody>
      </p:sp>
      <p:sp>
        <p:nvSpPr>
          <p:cNvPr id="12" name="Text 10"/>
          <p:cNvSpPr/>
          <p:nvPr/>
        </p:nvSpPr>
        <p:spPr>
          <a:xfrm>
            <a:off x="914400" y="5532120"/>
            <a:ext cx="6949440" cy="45720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Used in: Login → Home → Category Pages → Cart → Profile, AdminLogin → Admin</a:t>
            </a:r>
            <a:endParaRPr lang="en-US" sz="1300" dirty="0"/>
          </a:p>
        </p:txBody>
      </p:sp>
      <p:sp>
        <p:nvSpPr>
          <p:cNvPr id="13" name="Shape 11"/>
          <p:cNvSpPr/>
          <p:nvPr/>
        </p:nvSpPr>
        <p:spPr>
          <a:xfrm>
            <a:off x="8686800" y="2377440"/>
            <a:ext cx="2377440" cy="2377440"/>
          </a:xfrm>
          <a:prstGeom prst="ellipse">
            <a:avLst/>
          </a:prstGeom>
          <a:solidFill>
            <a:srgbClr val="DCEFD9"/>
          </a:solidFill>
          <a:ln/>
        </p:spPr>
      </p:sp>
      <p:pic>
        <p:nvPicPr>
          <p:cNvPr id="14" name="Image 0" descr="preencoded.png">    </p:cNvPr>
          <p:cNvPicPr>
            <a:picLocks noChangeAspect="1"/>
          </p:cNvPicPr>
          <p:nvPr/>
        </p:nvPicPr>
        <p:blipFill>
          <a:blip r:embed="rId1"/>
          <a:stretch>
            <a:fillRect/>
          </a:stretch>
        </p:blipFill>
        <p:spPr>
          <a:xfrm>
            <a:off x="8995867" y="2686507"/>
            <a:ext cx="1759306" cy="1759306"/>
          </a:xfrm>
          <a:prstGeom prst="rect">
            <a:avLst/>
          </a:prstGeom>
        </p:spPr>
      </p:pic>
      <p:sp>
        <p:nvSpPr>
          <p:cNvPr id="15" name="Shape 12"/>
          <p:cNvSpPr/>
          <p:nvPr/>
        </p:nvSpPr>
        <p:spPr>
          <a:xfrm>
            <a:off x="11414455" y="6080760"/>
            <a:ext cx="457200" cy="457200"/>
          </a:xfrm>
          <a:prstGeom prst="ellipse">
            <a:avLst/>
          </a:prstGeom>
          <a:solidFill>
            <a:srgbClr val="14432A"/>
          </a:solidFill>
          <a:ln/>
        </p:spPr>
      </p:sp>
      <p:pic>
        <p:nvPicPr>
          <p:cNvPr id="16"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10515600" cy="640080"/>
          </a:xfrm>
          <a:prstGeom prst="rect">
            <a:avLst/>
          </a:prstGeom>
          <a:noFill/>
          <a:ln/>
        </p:spPr>
        <p:txBody>
          <a:bodyPr wrap="square" rtlCol="0" anchor="ctr"/>
          <a:lstStyle/>
          <a:p>
            <a:pPr indent="0" marL="0">
              <a:buNone/>
            </a:pPr>
            <a:r>
              <a:rPr lang="en-US" sz="2600" b="1" dirty="0">
                <a:solidFill>
                  <a:srgbClr val="14432A"/>
                </a:solidFill>
                <a:latin typeface="Cambria" pitchFamily="34" charset="0"/>
                <a:ea typeface="Cambria" pitchFamily="34" charset="-122"/>
                <a:cs typeface="Cambria" pitchFamily="34" charset="-120"/>
              </a:rPr>
              <a:t>CO6 – Build and Deploy a Complete Front-End Application</a:t>
            </a:r>
            <a:endParaRPr lang="en-US" sz="2600" dirty="0"/>
          </a:p>
        </p:txBody>
      </p:sp>
      <p:sp>
        <p:nvSpPr>
          <p:cNvPr id="7" name="Shape 5"/>
          <p:cNvSpPr/>
          <p:nvPr/>
        </p:nvSpPr>
        <p:spPr>
          <a:xfrm>
            <a:off x="640080" y="1463040"/>
            <a:ext cx="7589520" cy="4754880"/>
          </a:xfrm>
          <a:prstGeom prst="roundRect">
            <a:avLst>
              <a:gd name="adj" fmla="val 2308"/>
            </a:avLst>
          </a:prstGeom>
          <a:solidFill>
            <a:srgbClr val="2E8B57"/>
          </a:solidFill>
          <a:ln/>
        </p:spPr>
      </p:sp>
      <p:sp>
        <p:nvSpPr>
          <p:cNvPr id="8" name="Text 6"/>
          <p:cNvSpPr/>
          <p:nvPr/>
        </p:nvSpPr>
        <p:spPr>
          <a:xfrm>
            <a:off x="914400" y="169164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Where Used:</a:t>
            </a:r>
            <a:endParaRPr lang="en-US" sz="1500" dirty="0"/>
          </a:p>
        </p:txBody>
      </p:sp>
      <p:sp>
        <p:nvSpPr>
          <p:cNvPr id="9" name="Text 7"/>
          <p:cNvSpPr/>
          <p:nvPr/>
        </p:nvSpPr>
        <p:spPr>
          <a:xfrm>
            <a:off x="914400" y="2103120"/>
            <a:ext cx="6949440" cy="164592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Complete Zivora Project</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UI Design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Component Integration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Project Structure</a:t>
            </a:r>
            <a:endParaRPr lang="en-US" sz="1300" dirty="0"/>
          </a:p>
        </p:txBody>
      </p:sp>
      <p:sp>
        <p:nvSpPr>
          <p:cNvPr id="10" name="Text 8"/>
          <p:cNvSpPr/>
          <p:nvPr/>
        </p:nvSpPr>
        <p:spPr>
          <a:xfrm>
            <a:off x="914400" y="3977640"/>
            <a:ext cx="6949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Implementation:</a:t>
            </a:r>
            <a:endParaRPr lang="en-US" sz="1500" dirty="0"/>
          </a:p>
        </p:txBody>
      </p:sp>
      <p:sp>
        <p:nvSpPr>
          <p:cNvPr id="11" name="Text 9"/>
          <p:cNvSpPr/>
          <p:nvPr/>
        </p:nvSpPr>
        <p:spPr>
          <a:xfrm>
            <a:off x="914400" y="4389120"/>
            <a:ext cx="6949440" cy="164592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Integrated all modules into a single application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Responsive CSS design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Organized folder structure</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Vite-based project setup with Express backend</a:t>
            </a:r>
            <a:endParaRPr lang="en-US" sz="1300" dirty="0"/>
          </a:p>
        </p:txBody>
      </p:sp>
      <p:sp>
        <p:nvSpPr>
          <p:cNvPr id="12" name="Shape 10"/>
          <p:cNvSpPr/>
          <p:nvPr/>
        </p:nvSpPr>
        <p:spPr>
          <a:xfrm>
            <a:off x="8686800" y="2377440"/>
            <a:ext cx="2377440" cy="2377440"/>
          </a:xfrm>
          <a:prstGeom prst="ellipse">
            <a:avLst/>
          </a:prstGeom>
          <a:solidFill>
            <a:srgbClr val="DCEFD9"/>
          </a:solidFill>
          <a:ln/>
        </p:spPr>
      </p:sp>
      <p:pic>
        <p:nvPicPr>
          <p:cNvPr id="13" name="Image 0" descr="preencoded.png">    </p:cNvPr>
          <p:cNvPicPr>
            <a:picLocks noChangeAspect="1"/>
          </p:cNvPicPr>
          <p:nvPr/>
        </p:nvPicPr>
        <p:blipFill>
          <a:blip r:embed="rId1"/>
          <a:stretch>
            <a:fillRect/>
          </a:stretch>
        </p:blipFill>
        <p:spPr>
          <a:xfrm>
            <a:off x="8995867" y="2686507"/>
            <a:ext cx="1759306" cy="1759306"/>
          </a:xfrm>
          <a:prstGeom prst="rect">
            <a:avLst/>
          </a:prstGeom>
        </p:spPr>
      </p:pic>
      <p:sp>
        <p:nvSpPr>
          <p:cNvPr id="14" name="Shape 11"/>
          <p:cNvSpPr/>
          <p:nvPr/>
        </p:nvSpPr>
        <p:spPr>
          <a:xfrm>
            <a:off x="11414455" y="6080760"/>
            <a:ext cx="457200" cy="457200"/>
          </a:xfrm>
          <a:prstGeom prst="ellipse">
            <a:avLst/>
          </a:prstGeom>
          <a:solidFill>
            <a:srgbClr val="14432A"/>
          </a:solidFill>
          <a:ln/>
        </p:spPr>
      </p:sp>
      <p:pic>
        <p:nvPicPr>
          <p:cNvPr id="15"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640080"/>
            <a:ext cx="5486400" cy="822960"/>
          </a:xfrm>
          <a:prstGeom prst="rect">
            <a:avLst/>
          </a:prstGeom>
          <a:noFill/>
          <a:ln/>
        </p:spPr>
        <p:txBody>
          <a:bodyPr wrap="square" rtlCol="0" anchor="ctr"/>
          <a:lstStyle/>
          <a:p>
            <a:pPr indent="0" marL="0">
              <a:buNone/>
            </a:pPr>
            <a:r>
              <a:rPr lang="en-US" sz="4200" b="1" dirty="0">
                <a:solidFill>
                  <a:srgbClr val="14432A"/>
                </a:solidFill>
                <a:latin typeface="Cambria" pitchFamily="34" charset="0"/>
                <a:ea typeface="Cambria" pitchFamily="34" charset="-122"/>
                <a:cs typeface="Cambria" pitchFamily="34" charset="-120"/>
              </a:rPr>
              <a:t>Result</a:t>
            </a:r>
            <a:endParaRPr lang="en-US" sz="4200" dirty="0"/>
          </a:p>
        </p:txBody>
      </p:sp>
      <p:sp>
        <p:nvSpPr>
          <p:cNvPr id="7" name="Shape 5"/>
          <p:cNvSpPr/>
          <p:nvPr/>
        </p:nvSpPr>
        <p:spPr>
          <a:xfrm>
            <a:off x="640080" y="1691640"/>
            <a:ext cx="7680960" cy="4480560"/>
          </a:xfrm>
          <a:prstGeom prst="roundRect">
            <a:avLst>
              <a:gd name="adj" fmla="val 2449"/>
            </a:avLst>
          </a:prstGeom>
          <a:solidFill>
            <a:srgbClr val="2E8B57"/>
          </a:solidFill>
          <a:ln/>
        </p:spPr>
      </p:sp>
      <p:sp>
        <p:nvSpPr>
          <p:cNvPr id="8" name="Text 6"/>
          <p:cNvSpPr/>
          <p:nvPr/>
        </p:nvSpPr>
        <p:spPr>
          <a:xfrm>
            <a:off x="914400" y="1920240"/>
            <a:ext cx="7132320" cy="4023360"/>
          </a:xfrm>
          <a:prstGeom prst="rect">
            <a:avLst/>
          </a:prstGeom>
          <a:noFill/>
          <a:ln/>
        </p:spPr>
        <p:txBody>
          <a:bodyPr wrap="square"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Successfully developed a functional online shopping platform.</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Simplified browsing across multiple product categories.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Improved cart management and order placement.</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Reduced manual effort and data management issues.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Enhanced user experience through a responsive interface.</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Provided admins a centralized way to manage customers.</a:t>
            </a:r>
            <a:endParaRPr lang="en-US" sz="1500" dirty="0"/>
          </a:p>
        </p:txBody>
      </p:sp>
      <p:sp>
        <p:nvSpPr>
          <p:cNvPr id="9" name="Shape 7"/>
          <p:cNvSpPr/>
          <p:nvPr/>
        </p:nvSpPr>
        <p:spPr>
          <a:xfrm>
            <a:off x="8778240" y="2377440"/>
            <a:ext cx="2377440" cy="2377440"/>
          </a:xfrm>
          <a:prstGeom prst="ellipse">
            <a:avLst/>
          </a:prstGeom>
          <a:solidFill>
            <a:srgbClr val="DCEFD9"/>
          </a:solidFill>
          <a:ln/>
        </p:spPr>
      </p:sp>
      <p:pic>
        <p:nvPicPr>
          <p:cNvPr id="10" name="Image 0" descr="preencoded.png">    </p:cNvPr>
          <p:cNvPicPr>
            <a:picLocks noChangeAspect="1"/>
          </p:cNvPicPr>
          <p:nvPr/>
        </p:nvPicPr>
        <p:blipFill>
          <a:blip r:embed="rId1"/>
          <a:stretch>
            <a:fillRect/>
          </a:stretch>
        </p:blipFill>
        <p:spPr>
          <a:xfrm>
            <a:off x="9087307" y="2686507"/>
            <a:ext cx="1759306" cy="1759306"/>
          </a:xfrm>
          <a:prstGeom prst="rect">
            <a:avLst/>
          </a:prstGeom>
        </p:spPr>
      </p:pic>
      <p:sp>
        <p:nvSpPr>
          <p:cNvPr id="11" name="Shape 8"/>
          <p:cNvSpPr/>
          <p:nvPr/>
        </p:nvSpPr>
        <p:spPr>
          <a:xfrm>
            <a:off x="11414455" y="6080760"/>
            <a:ext cx="457200" cy="457200"/>
          </a:xfrm>
          <a:prstGeom prst="ellipse">
            <a:avLst/>
          </a:prstGeom>
          <a:solidFill>
            <a:srgbClr val="14432A"/>
          </a:solidFill>
          <a:ln/>
        </p:spPr>
      </p:sp>
      <p:pic>
        <p:nvPicPr>
          <p:cNvPr id="12" name="Image 1" descr="preencoded.png">    </p:cNvPr>
          <p:cNvPicPr>
            <a:picLocks noChangeAspect="1"/>
          </p:cNvPicPr>
          <p:nvPr/>
        </p:nvPicPr>
        <p:blipFill>
          <a:blip r:embed="rId2"/>
          <a:stretch>
            <a:fillRect/>
          </a:stretch>
        </p:blipFill>
        <p:spPr>
          <a:xfrm>
            <a:off x="11473891" y="6140196"/>
            <a:ext cx="338328" cy="33832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109728" cy="109728"/>
          </a:xfrm>
          <a:prstGeom prst="ellipse">
            <a:avLst/>
          </a:prstGeom>
          <a:solidFill>
            <a:srgbClr val="14432A"/>
          </a:solidFill>
          <a:ln w="12700">
            <a:solidFill>
              <a:srgbClr val="14432A"/>
            </a:solidFill>
            <a:prstDash val="solid"/>
          </a:ln>
        </p:spPr>
      </p:sp>
      <p:sp>
        <p:nvSpPr>
          <p:cNvPr id="3" name="Shape 1"/>
          <p:cNvSpPr/>
          <p:nvPr/>
        </p:nvSpPr>
        <p:spPr>
          <a:xfrm>
            <a:off x="841248" y="365760"/>
            <a:ext cx="109728" cy="109728"/>
          </a:xfrm>
          <a:prstGeom prst="ellipse">
            <a:avLst/>
          </a:prstGeom>
          <a:solidFill>
            <a:srgbClr val="FFFFFF"/>
          </a:solidFill>
          <a:ln w="12700">
            <a:solidFill>
              <a:srgbClr val="14432A"/>
            </a:solidFill>
            <a:prstDash val="solid"/>
          </a:ln>
        </p:spPr>
      </p:sp>
      <p:sp>
        <p:nvSpPr>
          <p:cNvPr id="4" name="Shape 2"/>
          <p:cNvSpPr/>
          <p:nvPr/>
        </p:nvSpPr>
        <p:spPr>
          <a:xfrm>
            <a:off x="1042416" y="365760"/>
            <a:ext cx="109728" cy="109728"/>
          </a:xfrm>
          <a:prstGeom prst="ellipse">
            <a:avLst/>
          </a:prstGeom>
          <a:solidFill>
            <a:srgbClr val="FFFFFF"/>
          </a:solidFill>
          <a:ln w="12700">
            <a:solidFill>
              <a:srgbClr val="14432A"/>
            </a:solidFill>
            <a:prstDash val="solid"/>
          </a:ln>
        </p:spPr>
      </p:sp>
      <p:sp>
        <p:nvSpPr>
          <p:cNvPr id="5" name="Shape 3"/>
          <p:cNvSpPr/>
          <p:nvPr/>
        </p:nvSpPr>
        <p:spPr>
          <a:xfrm>
            <a:off x="1243584" y="365760"/>
            <a:ext cx="109728" cy="109728"/>
          </a:xfrm>
          <a:prstGeom prst="ellipse">
            <a:avLst/>
          </a:prstGeom>
          <a:solidFill>
            <a:srgbClr val="FFFFFF"/>
          </a:solidFill>
          <a:ln w="12700">
            <a:solidFill>
              <a:srgbClr val="14432A"/>
            </a:solidFill>
            <a:prstDash val="solid"/>
          </a:ln>
        </p:spPr>
      </p:sp>
      <p:sp>
        <p:nvSpPr>
          <p:cNvPr id="6" name="Text 4"/>
          <p:cNvSpPr/>
          <p:nvPr/>
        </p:nvSpPr>
        <p:spPr>
          <a:xfrm>
            <a:off x="640080" y="502920"/>
            <a:ext cx="8229600" cy="1371600"/>
          </a:xfrm>
          <a:prstGeom prst="rect">
            <a:avLst/>
          </a:prstGeom>
          <a:noFill/>
          <a:ln/>
        </p:spPr>
        <p:txBody>
          <a:bodyPr wrap="square" rtlCol="0" anchor="ctr"/>
          <a:lstStyle/>
          <a:p>
            <a:pPr indent="0" marL="0">
              <a:buNone/>
            </a:pPr>
            <a:r>
              <a:rPr lang="en-US" sz="3400" b="1" dirty="0">
                <a:solidFill>
                  <a:srgbClr val="14432A"/>
                </a:solidFill>
                <a:latin typeface="Cambria" pitchFamily="34" charset="0"/>
                <a:ea typeface="Cambria" pitchFamily="34" charset="-122"/>
                <a:cs typeface="Cambria" pitchFamily="34" charset="-120"/>
              </a:rPr>
              <a:t>Conclusion and</a:t>
            </a:r>
            <a:endParaRPr lang="en-US" sz="3400" dirty="0"/>
          </a:p>
          <a:p>
            <a:pPr indent="0" marL="0">
              <a:buNone/>
            </a:pPr>
            <a:r>
              <a:rPr lang="en-US" sz="3400" b="1" dirty="0">
                <a:solidFill>
                  <a:srgbClr val="14432A"/>
                </a:solidFill>
                <a:latin typeface="Cambria" pitchFamily="34" charset="0"/>
                <a:ea typeface="Cambria" pitchFamily="34" charset="-122"/>
                <a:cs typeface="Cambria" pitchFamily="34" charset="-120"/>
              </a:rPr>
              <a:t>future scope</a:t>
            </a:r>
            <a:endParaRPr lang="en-US" sz="3400" dirty="0"/>
          </a:p>
        </p:txBody>
      </p:sp>
      <p:sp>
        <p:nvSpPr>
          <p:cNvPr id="7" name="Shape 5"/>
          <p:cNvSpPr/>
          <p:nvPr/>
        </p:nvSpPr>
        <p:spPr>
          <a:xfrm>
            <a:off x="640080" y="2057400"/>
            <a:ext cx="10881360" cy="4297680"/>
          </a:xfrm>
          <a:prstGeom prst="roundRect">
            <a:avLst>
              <a:gd name="adj" fmla="val 2553"/>
            </a:avLst>
          </a:prstGeom>
          <a:solidFill>
            <a:srgbClr val="2E8B57"/>
          </a:solidFill>
          <a:ln/>
        </p:spPr>
      </p:sp>
      <p:sp>
        <p:nvSpPr>
          <p:cNvPr id="8" name="Text 6"/>
          <p:cNvSpPr/>
          <p:nvPr/>
        </p:nvSpPr>
        <p:spPr>
          <a:xfrm>
            <a:off x="914400" y="2286000"/>
            <a:ext cx="10332720" cy="155448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Zivora successfully digitizes online shopping by providing a centralized platform for product browsing, cart management, order placement, and customer administration. The project demonstrates the effective use of React, routing, state management, and component-based development alongside a lightweight Express backend. It improves efficiency, reduces manual errors, and offers a scalable solution for managing an online store.</a:t>
            </a:r>
            <a:endParaRPr lang="en-US" sz="1400" dirty="0"/>
          </a:p>
        </p:txBody>
      </p:sp>
      <p:sp>
        <p:nvSpPr>
          <p:cNvPr id="9" name="Text 7"/>
          <p:cNvSpPr/>
          <p:nvPr/>
        </p:nvSpPr>
        <p:spPr>
          <a:xfrm>
            <a:off x="914400" y="3931920"/>
            <a:ext cx="10332720" cy="228600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Online payment integration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Real-time order tracking &amp; notifications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Admin analytics dashboard</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Cloud database integration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Mobile application support</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Product reviews &amp; ratings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Order/sales reports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AI-based product recommendations</a:t>
            </a:r>
            <a:endParaRPr lang="en-US" sz="1300" dirty="0"/>
          </a:p>
        </p:txBody>
      </p:sp>
      <p:sp>
        <p:nvSpPr>
          <p:cNvPr id="10" name="Shape 8"/>
          <p:cNvSpPr/>
          <p:nvPr/>
        </p:nvSpPr>
        <p:spPr>
          <a:xfrm>
            <a:off x="11414455" y="6080760"/>
            <a:ext cx="457200" cy="457200"/>
          </a:xfrm>
          <a:prstGeom prst="ellipse">
            <a:avLst/>
          </a:prstGeom>
          <a:solidFill>
            <a:srgbClr val="14432A"/>
          </a:solidFill>
          <a:ln/>
        </p:spPr>
      </p:sp>
      <p:pic>
        <p:nvPicPr>
          <p:cNvPr id="11" name="Image 0" descr="preencoded.png">    </p:cNvPr>
          <p:cNvPicPr>
            <a:picLocks noChangeAspect="1"/>
          </p:cNvPicPr>
          <p:nvPr/>
        </p:nvPicPr>
        <p:blipFill>
          <a:blip r:embed="rId1"/>
          <a:stretch>
            <a:fillRect/>
          </a:stretch>
        </p:blipFill>
        <p:spPr>
          <a:xfrm>
            <a:off x="11473891" y="6140196"/>
            <a:ext cx="338328" cy="33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Zivora</dc:title>
  <dc:subject>PptxGenJS Presentation</dc:subject>
  <dc:creator>K. Kushal Kumar, T. Sai Pavan Reddy</dc:creator>
  <cp:lastModifiedBy>K. Kushal Kumar, T. Sai Pavan Reddy</cp:lastModifiedBy>
  <cp:revision>1</cp:revision>
  <dcterms:created xsi:type="dcterms:W3CDTF">2026-06-20T03:36:50Z</dcterms:created>
  <dcterms:modified xsi:type="dcterms:W3CDTF">2026-06-20T03:36:50Z</dcterms:modified>
</cp:coreProperties>
</file>